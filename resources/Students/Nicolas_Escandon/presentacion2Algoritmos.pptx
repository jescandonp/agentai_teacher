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9" r:id="rId2"/>
    <p:sldId id="256" r:id="rId3"/>
    <p:sldId id="268" r:id="rId4"/>
    <p:sldId id="262" r:id="rId5"/>
    <p:sldId id="271" r:id="rId6"/>
    <p:sldId id="258" r:id="rId7"/>
    <p:sldId id="269" r:id="rId8"/>
    <p:sldId id="279" r:id="rId9"/>
    <p:sldId id="280" r:id="rId10"/>
    <p:sldId id="281" r:id="rId11"/>
    <p:sldId id="282" r:id="rId12"/>
    <p:sldId id="283" r:id="rId13"/>
    <p:sldId id="284" r:id="rId14"/>
    <p:sldId id="285" r:id="rId15"/>
    <p:sldId id="286" r:id="rId16"/>
    <p:sldId id="287" r:id="rId17"/>
    <p:sldId id="288" r:id="rId18"/>
    <p:sldId id="289" r:id="rId19"/>
    <p:sldId id="260" r:id="rId20"/>
    <p:sldId id="263" r:id="rId21"/>
  </p:sldIdLst>
  <p:sldSz cx="12192000" cy="6858000"/>
  <p:notesSz cx="6858000" cy="9144000"/>
  <p:defaultTextStyle>
    <a:defPPr>
      <a:defRPr lang="es-CO"/>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3"/>
    <a:srgbClr val="00BF68"/>
    <a:srgbClr val="21C57C"/>
    <a:srgbClr val="94D6C0"/>
    <a:srgbClr val="B6E3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6" y="50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E13E5C60-597A-6B6C-594B-C4A717F07E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E7F0A51-1D91-4138-DF78-B2B0132A10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1FC915-3197-1844-B067-EB24959B7EE3}" type="datetimeFigureOut">
              <a:rPr lang="es-CO" smtClean="0"/>
              <a:t>27/01/2026</a:t>
            </a:fld>
            <a:endParaRPr lang="es-CO"/>
          </a:p>
        </p:txBody>
      </p:sp>
      <p:sp>
        <p:nvSpPr>
          <p:cNvPr id="4" name="Marcador de pie de página 3">
            <a:extLst>
              <a:ext uri="{FF2B5EF4-FFF2-40B4-BE49-F238E27FC236}">
                <a16:creationId xmlns:a16="http://schemas.microsoft.com/office/drawing/2014/main" id="{D02B908C-7728-3856-0E5C-9693134954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D7B8CAA-BCE0-8BA5-25EF-788000DAB1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C66D0C-0DF6-6A4C-AA68-A5FA9D81AEC2}" type="slidenum">
              <a:rPr lang="es-CO" smtClean="0"/>
              <a:t>‹Nº›</a:t>
            </a:fld>
            <a:endParaRPr lang="es-CO"/>
          </a:p>
        </p:txBody>
      </p:sp>
    </p:spTree>
    <p:extLst>
      <p:ext uri="{BB962C8B-B14F-4D97-AF65-F5344CB8AC3E}">
        <p14:creationId xmlns:p14="http://schemas.microsoft.com/office/powerpoint/2010/main" val="1261192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FA03B7-27B7-FB41-9C19-322468D21692}" type="datetimeFigureOut">
              <a:rPr lang="es-CO" smtClean="0"/>
              <a:t>27/01/2026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90DA67-01FF-F04B-B187-EB93EA7A0960}" type="slidenum">
              <a:rPr lang="es-CO" smtClean="0"/>
              <a:t>‹Nº›</a:t>
            </a:fld>
            <a:endParaRPr lang="es-CO"/>
          </a:p>
        </p:txBody>
      </p:sp>
    </p:spTree>
    <p:extLst>
      <p:ext uri="{BB962C8B-B14F-4D97-AF65-F5344CB8AC3E}">
        <p14:creationId xmlns:p14="http://schemas.microsoft.com/office/powerpoint/2010/main" val="2586977677"/>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8890DA67-01FF-F04B-B187-EB93EA7A0960}" type="slidenum">
              <a:rPr lang="es-CO" smtClean="0"/>
              <a:t>6</a:t>
            </a:fld>
            <a:endParaRPr lang="es-CO"/>
          </a:p>
        </p:txBody>
      </p:sp>
    </p:spTree>
    <p:extLst>
      <p:ext uri="{BB962C8B-B14F-4D97-AF65-F5344CB8AC3E}">
        <p14:creationId xmlns:p14="http://schemas.microsoft.com/office/powerpoint/2010/main" val="1207937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8890DA67-01FF-F04B-B187-EB93EA7A0960}" type="slidenum">
              <a:rPr lang="es-CO" smtClean="0"/>
              <a:t>8</a:t>
            </a:fld>
            <a:endParaRPr lang="es-CO"/>
          </a:p>
        </p:txBody>
      </p:sp>
    </p:spTree>
    <p:extLst>
      <p:ext uri="{BB962C8B-B14F-4D97-AF65-F5344CB8AC3E}">
        <p14:creationId xmlns:p14="http://schemas.microsoft.com/office/powerpoint/2010/main" val="1745320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8890DA67-01FF-F04B-B187-EB93EA7A0960}" type="slidenum">
              <a:rPr lang="es-CO" smtClean="0"/>
              <a:t>20</a:t>
            </a:fld>
            <a:endParaRPr lang="es-CO"/>
          </a:p>
        </p:txBody>
      </p:sp>
    </p:spTree>
    <p:extLst>
      <p:ext uri="{BB962C8B-B14F-4D97-AF65-F5344CB8AC3E}">
        <p14:creationId xmlns:p14="http://schemas.microsoft.com/office/powerpoint/2010/main" val="2286499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adación ean 2">
    <p:bg>
      <p:bgPr>
        <a:gradFill>
          <a:gsLst>
            <a:gs pos="0">
              <a:srgbClr val="00BF68"/>
            </a:gs>
            <a:gs pos="22000">
              <a:srgbClr val="F1EDFD"/>
            </a:gs>
            <a:gs pos="43362">
              <a:srgbClr val="FFFFFF"/>
            </a:gs>
            <a:gs pos="100000">
              <a:schemeClr val="bg2"/>
            </a:gs>
          </a:gsLst>
          <a:lin ang="18900000" scaled="1"/>
        </a:grad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205A2121-4196-B666-2003-4906C4A89C3F}"/>
              </a:ext>
            </a:extLst>
          </p:cNvPr>
          <p:cNvSpPr>
            <a:spLocks noGrp="1"/>
          </p:cNvSpPr>
          <p:nvPr>
            <p:ph type="dt" sz="half" idx="10"/>
          </p:nvPr>
        </p:nvSpPr>
        <p:spPr>
          <a:xfrm>
            <a:off x="152400" y="6356351"/>
            <a:ext cx="2743200" cy="365125"/>
          </a:xfrm>
        </p:spPr>
        <p:txBody>
          <a:bodyPr/>
          <a:lstStyle/>
          <a:p>
            <a:fld id="{C957576E-29A4-3443-9A7F-0B4D72A9632E}" type="datetime1">
              <a:rPr lang="es-CO" smtClean="0"/>
              <a:t>27/01/2026</a:t>
            </a:fld>
            <a:endParaRPr lang="es-CO"/>
          </a:p>
        </p:txBody>
      </p:sp>
      <p:sp>
        <p:nvSpPr>
          <p:cNvPr id="5" name="Marcador de pie de página 4">
            <a:extLst>
              <a:ext uri="{FF2B5EF4-FFF2-40B4-BE49-F238E27FC236}">
                <a16:creationId xmlns:a16="http://schemas.microsoft.com/office/drawing/2014/main" id="{062D76C7-D9DF-2DDB-C6D4-84F5A8BF1E2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6F792EE-E42B-6268-CA08-0DF90FC01847}"/>
              </a:ext>
            </a:extLst>
          </p:cNvPr>
          <p:cNvSpPr>
            <a:spLocks noGrp="1"/>
          </p:cNvSpPr>
          <p:nvPr>
            <p:ph type="sldNum" sz="quarter" idx="12"/>
          </p:nvPr>
        </p:nvSpPr>
        <p:spPr>
          <a:xfrm>
            <a:off x="9296400" y="6356351"/>
            <a:ext cx="2743200" cy="365125"/>
          </a:xfrm>
          <a:prstGeom prst="rect">
            <a:avLst/>
          </a:prstGeom>
        </p:spPr>
        <p:txBody>
          <a:bodyPr/>
          <a:lstStyle/>
          <a:p>
            <a:fld id="{8BFEBA87-C0CD-434A-9521-31AFCAE6F9CF}" type="slidenum">
              <a:rPr lang="es-CO" smtClean="0"/>
              <a:t>‹Nº›</a:t>
            </a:fld>
            <a:endParaRPr lang="es-CO"/>
          </a:p>
        </p:txBody>
      </p:sp>
    </p:spTree>
    <p:extLst>
      <p:ext uri="{BB962C8B-B14F-4D97-AF65-F5344CB8AC3E}">
        <p14:creationId xmlns:p14="http://schemas.microsoft.com/office/powerpoint/2010/main" val="3425076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adación ean 1">
    <p:bg>
      <p:bgPr>
        <a:gradFill flip="none" rotWithShape="1">
          <a:gsLst>
            <a:gs pos="0">
              <a:srgbClr val="00BF68"/>
            </a:gs>
            <a:gs pos="22000">
              <a:srgbClr val="F1EDFD"/>
            </a:gs>
            <a:gs pos="43362">
              <a:srgbClr val="FFFFFF"/>
            </a:gs>
            <a:gs pos="100000">
              <a:schemeClr val="bg2"/>
            </a:gs>
          </a:gsLst>
          <a:lin ang="13500000" scaled="1"/>
          <a:tileRect/>
        </a:grad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DD9578E4-95B1-78D5-41CD-C9FDF5F6D1E2}"/>
              </a:ext>
            </a:extLst>
          </p:cNvPr>
          <p:cNvSpPr>
            <a:spLocks noGrp="1"/>
          </p:cNvSpPr>
          <p:nvPr>
            <p:ph type="dt" sz="half" idx="10"/>
          </p:nvPr>
        </p:nvSpPr>
        <p:spPr/>
        <p:txBody>
          <a:bodyPr/>
          <a:lstStyle/>
          <a:p>
            <a:fld id="{9EB23D97-EACA-7247-8E89-9CB3760F6383}" type="datetime1">
              <a:rPr lang="es-CO" smtClean="0"/>
              <a:t>27/01/2026</a:t>
            </a:fld>
            <a:endParaRPr lang="es-CO"/>
          </a:p>
        </p:txBody>
      </p:sp>
      <p:sp>
        <p:nvSpPr>
          <p:cNvPr id="5" name="Marcador de pie de página 4">
            <a:extLst>
              <a:ext uri="{FF2B5EF4-FFF2-40B4-BE49-F238E27FC236}">
                <a16:creationId xmlns:a16="http://schemas.microsoft.com/office/drawing/2014/main" id="{5354F58E-6147-00C6-8984-CE9AE6911D92}"/>
              </a:ext>
            </a:extLst>
          </p:cNvPr>
          <p:cNvSpPr>
            <a:spLocks noGrp="1"/>
          </p:cNvSpPr>
          <p:nvPr>
            <p:ph type="ftr" sz="quarter" idx="11"/>
          </p:nvPr>
        </p:nvSpPr>
        <p:spPr/>
        <p:txBody>
          <a:bodyPr/>
          <a:lstStyle/>
          <a:p>
            <a:endParaRPr lang="es-CO"/>
          </a:p>
        </p:txBody>
      </p:sp>
      <p:sp>
        <p:nvSpPr>
          <p:cNvPr id="7" name="Marcador de número de diapositiva 5">
            <a:extLst>
              <a:ext uri="{FF2B5EF4-FFF2-40B4-BE49-F238E27FC236}">
                <a16:creationId xmlns:a16="http://schemas.microsoft.com/office/drawing/2014/main" id="{B0E3D995-425B-0DE1-9A47-73722DF5741B}"/>
              </a:ext>
            </a:extLst>
          </p:cNvPr>
          <p:cNvSpPr>
            <a:spLocks noGrp="1"/>
          </p:cNvSpPr>
          <p:nvPr>
            <p:ph type="sldNum" sz="quarter" idx="12"/>
          </p:nvPr>
        </p:nvSpPr>
        <p:spPr>
          <a:xfrm>
            <a:off x="9240974" y="6356351"/>
            <a:ext cx="2743200" cy="365125"/>
          </a:xfrm>
          <a:prstGeom prst="rect">
            <a:avLst/>
          </a:prstGeom>
        </p:spPr>
        <p:txBody>
          <a:bodyPr/>
          <a:lstStyle/>
          <a:p>
            <a:fld id="{8BFEBA87-C0CD-434A-9521-31AFCAE6F9CF}" type="slidenum">
              <a:rPr lang="es-CO" smtClean="0"/>
              <a:t>‹Nº›</a:t>
            </a:fld>
            <a:endParaRPr lang="es-CO"/>
          </a:p>
        </p:txBody>
      </p:sp>
    </p:spTree>
    <p:extLst>
      <p:ext uri="{BB962C8B-B14F-4D97-AF65-F5344CB8AC3E}">
        <p14:creationId xmlns:p14="http://schemas.microsoft.com/office/powerpoint/2010/main" val="2530733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osición Monarca">
    <p:bg>
      <p:bgPr>
        <a:gradFill flip="none" rotWithShape="1">
          <a:gsLst>
            <a:gs pos="0">
              <a:srgbClr val="00BF68"/>
            </a:gs>
            <a:gs pos="22000">
              <a:srgbClr val="F1EDFD"/>
            </a:gs>
            <a:gs pos="43362">
              <a:srgbClr val="FFFFFF"/>
            </a:gs>
            <a:gs pos="100000">
              <a:schemeClr val="bg2"/>
            </a:gs>
          </a:gsLst>
          <a:lin ang="13500000" scaled="1"/>
          <a:tileRect/>
        </a:grad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ECBD2BC-AACC-D81E-67B0-0EB47EEE37FF}"/>
              </a:ext>
            </a:extLst>
          </p:cNvPr>
          <p:cNvSpPr>
            <a:spLocks noGrp="1"/>
          </p:cNvSpPr>
          <p:nvPr>
            <p:ph type="dt" sz="half" idx="10"/>
          </p:nvPr>
        </p:nvSpPr>
        <p:spPr/>
        <p:txBody>
          <a:bodyPr/>
          <a:lstStyle/>
          <a:p>
            <a:fld id="{F6EFFD78-59DE-384A-A578-B909F749FA7A}" type="datetime1">
              <a:rPr lang="es-CO" smtClean="0"/>
              <a:t>27/01/2026</a:t>
            </a:fld>
            <a:endParaRPr lang="es-CO"/>
          </a:p>
        </p:txBody>
      </p:sp>
      <p:sp>
        <p:nvSpPr>
          <p:cNvPr id="5" name="Marcador de pie de página 4">
            <a:extLst>
              <a:ext uri="{FF2B5EF4-FFF2-40B4-BE49-F238E27FC236}">
                <a16:creationId xmlns:a16="http://schemas.microsoft.com/office/drawing/2014/main" id="{C13C6B73-F593-C6D1-84E2-237F47D5DB4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8A5A83B-5182-754E-B830-7F4BB83DFDF7}"/>
              </a:ext>
            </a:extLst>
          </p:cNvPr>
          <p:cNvSpPr>
            <a:spLocks noGrp="1"/>
          </p:cNvSpPr>
          <p:nvPr>
            <p:ph type="sldNum" sz="quarter" idx="12"/>
          </p:nvPr>
        </p:nvSpPr>
        <p:spPr>
          <a:xfrm>
            <a:off x="9240974" y="6356351"/>
            <a:ext cx="2743200" cy="365125"/>
          </a:xfrm>
          <a:prstGeom prst="rect">
            <a:avLst/>
          </a:prstGeom>
        </p:spPr>
        <p:txBody>
          <a:bodyPr/>
          <a:lstStyle/>
          <a:p>
            <a:fld id="{8BFEBA87-C0CD-434A-9521-31AFCAE6F9CF}" type="slidenum">
              <a:rPr lang="es-CO" smtClean="0"/>
              <a:t>‹Nº›</a:t>
            </a:fld>
            <a:endParaRPr lang="es-CO"/>
          </a:p>
        </p:txBody>
      </p:sp>
      <p:sp>
        <p:nvSpPr>
          <p:cNvPr id="11" name="Marcador de posición de imagen 10">
            <a:extLst>
              <a:ext uri="{FF2B5EF4-FFF2-40B4-BE49-F238E27FC236}">
                <a16:creationId xmlns:a16="http://schemas.microsoft.com/office/drawing/2014/main" id="{64AAF1ED-3B2C-E7CD-98E7-C3AA3FE546D9}"/>
              </a:ext>
            </a:extLst>
          </p:cNvPr>
          <p:cNvSpPr>
            <a:spLocks noGrp="1"/>
          </p:cNvSpPr>
          <p:nvPr>
            <p:ph type="pic" sz="quarter" idx="13"/>
          </p:nvPr>
        </p:nvSpPr>
        <p:spPr>
          <a:xfrm>
            <a:off x="660030" y="956290"/>
            <a:ext cx="2559821" cy="2472710"/>
          </a:xfrm>
          <a:prstGeom prst="round2DiagRect">
            <a:avLst>
              <a:gd name="adj1" fmla="val 0"/>
              <a:gd name="adj2" fmla="val 26874"/>
            </a:avLst>
          </a:prstGeom>
          <a:solidFill>
            <a:schemeClr val="bg1">
              <a:lumMod val="85000"/>
            </a:schemeClr>
          </a:solidFill>
        </p:spPr>
        <p:txBody>
          <a:bodyPr>
            <a:normAutofit/>
          </a:bodyPr>
          <a:lstStyle>
            <a:lvl1pPr marL="0" indent="0" algn="ctr">
              <a:buNone/>
              <a:defRPr sz="1400"/>
            </a:lvl1pPr>
          </a:lstStyle>
          <a:p>
            <a:endParaRPr lang="es-CO"/>
          </a:p>
        </p:txBody>
      </p:sp>
      <p:sp>
        <p:nvSpPr>
          <p:cNvPr id="13" name="Marcador de posición de imagen 10">
            <a:extLst>
              <a:ext uri="{FF2B5EF4-FFF2-40B4-BE49-F238E27FC236}">
                <a16:creationId xmlns:a16="http://schemas.microsoft.com/office/drawing/2014/main" id="{427737A7-6D9F-FE50-1360-0E9502ADA0A2}"/>
              </a:ext>
            </a:extLst>
          </p:cNvPr>
          <p:cNvSpPr>
            <a:spLocks noGrp="1"/>
          </p:cNvSpPr>
          <p:nvPr>
            <p:ph type="pic" sz="quarter" idx="14"/>
          </p:nvPr>
        </p:nvSpPr>
        <p:spPr>
          <a:xfrm>
            <a:off x="3379425" y="956290"/>
            <a:ext cx="2559821" cy="2472710"/>
          </a:xfrm>
          <a:prstGeom prst="round2DiagRect">
            <a:avLst>
              <a:gd name="adj1" fmla="val 26874"/>
              <a:gd name="adj2" fmla="val 0"/>
            </a:avLst>
          </a:prstGeom>
          <a:solidFill>
            <a:schemeClr val="bg1">
              <a:lumMod val="85000"/>
            </a:schemeClr>
          </a:solidFill>
        </p:spPr>
        <p:txBody>
          <a:bodyPr>
            <a:normAutofit/>
          </a:bodyPr>
          <a:lstStyle>
            <a:lvl1pPr marL="0" indent="0" algn="ctr">
              <a:buNone/>
              <a:defRPr sz="1400"/>
            </a:lvl1pPr>
          </a:lstStyle>
          <a:p>
            <a:endParaRPr lang="es-CO"/>
          </a:p>
        </p:txBody>
      </p:sp>
      <p:sp>
        <p:nvSpPr>
          <p:cNvPr id="14" name="Marcador de posición de imagen 10">
            <a:extLst>
              <a:ext uri="{FF2B5EF4-FFF2-40B4-BE49-F238E27FC236}">
                <a16:creationId xmlns:a16="http://schemas.microsoft.com/office/drawing/2014/main" id="{F2699574-8783-3E4C-5345-ADC847BBD849}"/>
              </a:ext>
            </a:extLst>
          </p:cNvPr>
          <p:cNvSpPr>
            <a:spLocks noGrp="1"/>
          </p:cNvSpPr>
          <p:nvPr>
            <p:ph type="pic" sz="quarter" idx="15"/>
          </p:nvPr>
        </p:nvSpPr>
        <p:spPr>
          <a:xfrm>
            <a:off x="660030" y="3572833"/>
            <a:ext cx="2559821" cy="2472710"/>
          </a:xfrm>
          <a:prstGeom prst="round2DiagRect">
            <a:avLst>
              <a:gd name="adj1" fmla="val 24773"/>
              <a:gd name="adj2" fmla="val 0"/>
            </a:avLst>
          </a:prstGeom>
          <a:solidFill>
            <a:schemeClr val="bg1">
              <a:lumMod val="85000"/>
            </a:schemeClr>
          </a:solidFill>
        </p:spPr>
        <p:txBody>
          <a:bodyPr>
            <a:normAutofit/>
          </a:bodyPr>
          <a:lstStyle>
            <a:lvl1pPr marL="0" indent="0" algn="ctr">
              <a:buNone/>
              <a:defRPr sz="1400"/>
            </a:lvl1pPr>
          </a:lstStyle>
          <a:p>
            <a:endParaRPr lang="es-CO"/>
          </a:p>
        </p:txBody>
      </p:sp>
      <p:sp>
        <p:nvSpPr>
          <p:cNvPr id="15" name="Marcador de posición de imagen 10">
            <a:extLst>
              <a:ext uri="{FF2B5EF4-FFF2-40B4-BE49-F238E27FC236}">
                <a16:creationId xmlns:a16="http://schemas.microsoft.com/office/drawing/2014/main" id="{86991818-B41F-711A-C87B-3D5946381EF0}"/>
              </a:ext>
            </a:extLst>
          </p:cNvPr>
          <p:cNvSpPr>
            <a:spLocks noGrp="1"/>
          </p:cNvSpPr>
          <p:nvPr>
            <p:ph type="pic" sz="quarter" idx="16"/>
          </p:nvPr>
        </p:nvSpPr>
        <p:spPr>
          <a:xfrm>
            <a:off x="3379425" y="3572833"/>
            <a:ext cx="2559821" cy="2472710"/>
          </a:xfrm>
          <a:prstGeom prst="round2DiagRect">
            <a:avLst>
              <a:gd name="adj1" fmla="val 0"/>
              <a:gd name="adj2" fmla="val 29232"/>
            </a:avLst>
          </a:prstGeom>
          <a:solidFill>
            <a:schemeClr val="bg1">
              <a:lumMod val="85000"/>
            </a:schemeClr>
          </a:solidFill>
        </p:spPr>
        <p:txBody>
          <a:bodyPr>
            <a:normAutofit/>
          </a:bodyPr>
          <a:lstStyle>
            <a:lvl1pPr marL="0" indent="0" algn="ctr">
              <a:buNone/>
              <a:defRPr sz="1400"/>
            </a:lvl1pPr>
          </a:lstStyle>
          <a:p>
            <a:endParaRPr lang="es-CO"/>
          </a:p>
        </p:txBody>
      </p:sp>
    </p:spTree>
    <p:extLst>
      <p:ext uri="{BB962C8B-B14F-4D97-AF65-F5344CB8AC3E}">
        <p14:creationId xmlns:p14="http://schemas.microsoft.com/office/powerpoint/2010/main" val="659191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an derecho">
    <p:bg>
      <p:bgPr>
        <a:gradFill flip="none" rotWithShape="1">
          <a:gsLst>
            <a:gs pos="0">
              <a:srgbClr val="00BF68"/>
            </a:gs>
            <a:gs pos="22000">
              <a:srgbClr val="F1EDFD"/>
            </a:gs>
            <a:gs pos="43362">
              <a:srgbClr val="FFFFFF"/>
            </a:gs>
            <a:gs pos="100000">
              <a:schemeClr val="bg2"/>
            </a:gs>
          </a:gsLst>
          <a:lin ang="18900000" scaled="1"/>
          <a:tileRect/>
        </a:gradFill>
        <a:effectLst/>
      </p:bgPr>
    </p:bg>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3A35B266-7DCA-654C-7955-58BC127763CC}"/>
              </a:ext>
            </a:extLst>
          </p:cNvPr>
          <p:cNvSpPr>
            <a:spLocks noGrp="1"/>
          </p:cNvSpPr>
          <p:nvPr>
            <p:ph type="dt" sz="half" idx="10"/>
          </p:nvPr>
        </p:nvSpPr>
        <p:spPr/>
        <p:txBody>
          <a:bodyPr/>
          <a:lstStyle/>
          <a:p>
            <a:fld id="{1D2D9744-518E-BD45-94F3-D6A6B2F19C60}" type="datetime1">
              <a:rPr lang="es-CO" smtClean="0"/>
              <a:t>27/01/2026</a:t>
            </a:fld>
            <a:endParaRPr lang="es-CO"/>
          </a:p>
        </p:txBody>
      </p:sp>
      <p:sp>
        <p:nvSpPr>
          <p:cNvPr id="6" name="Marcador de pie de página 5">
            <a:extLst>
              <a:ext uri="{FF2B5EF4-FFF2-40B4-BE49-F238E27FC236}">
                <a16:creationId xmlns:a16="http://schemas.microsoft.com/office/drawing/2014/main" id="{0185C7A7-4760-BABC-F173-80341140BA55}"/>
              </a:ext>
            </a:extLst>
          </p:cNvPr>
          <p:cNvSpPr>
            <a:spLocks noGrp="1"/>
          </p:cNvSpPr>
          <p:nvPr>
            <p:ph type="ftr" sz="quarter" idx="11"/>
          </p:nvPr>
        </p:nvSpPr>
        <p:spPr/>
        <p:txBody>
          <a:bodyPr/>
          <a:lstStyle/>
          <a:p>
            <a:endParaRPr lang="es-CO"/>
          </a:p>
        </p:txBody>
      </p:sp>
      <p:sp>
        <p:nvSpPr>
          <p:cNvPr id="8" name="Redondear rectángulo de esquina diagonal 7">
            <a:extLst>
              <a:ext uri="{FF2B5EF4-FFF2-40B4-BE49-F238E27FC236}">
                <a16:creationId xmlns:a16="http://schemas.microsoft.com/office/drawing/2014/main" id="{73269CFD-8E43-5D93-E8B8-EB1B96F160AE}"/>
              </a:ext>
            </a:extLst>
          </p:cNvPr>
          <p:cNvSpPr/>
          <p:nvPr userDrawn="1"/>
        </p:nvSpPr>
        <p:spPr>
          <a:xfrm>
            <a:off x="9398001" y="177801"/>
            <a:ext cx="2628900" cy="6515100"/>
          </a:xfrm>
          <a:prstGeom prst="round2DiagRect">
            <a:avLst>
              <a:gd name="adj1" fmla="val 36972"/>
              <a:gd name="adj2" fmla="val 0"/>
            </a:avLst>
          </a:prstGeom>
          <a:gradFill flip="none" rotWithShape="1">
            <a:gsLst>
              <a:gs pos="0">
                <a:srgbClr val="00BF68"/>
              </a:gs>
              <a:gs pos="100000">
                <a:srgbClr val="0033A3"/>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1"/>
          </a:p>
        </p:txBody>
      </p:sp>
      <p:pic>
        <p:nvPicPr>
          <p:cNvPr id="9" name="Imagen 8">
            <a:extLst>
              <a:ext uri="{FF2B5EF4-FFF2-40B4-BE49-F238E27FC236}">
                <a16:creationId xmlns:a16="http://schemas.microsoft.com/office/drawing/2014/main" id="{3C4B1454-C8E0-9C97-8813-170752D086E5}"/>
              </a:ext>
            </a:extLst>
          </p:cNvPr>
          <p:cNvPicPr>
            <a:picLocks noChangeAspect="1"/>
          </p:cNvPicPr>
          <p:nvPr userDrawn="1"/>
        </p:nvPicPr>
        <p:blipFill rotWithShape="1">
          <a:blip r:embed="rId2"/>
          <a:srcRect t="-38473" b="-29121"/>
          <a:stretch/>
        </p:blipFill>
        <p:spPr>
          <a:xfrm>
            <a:off x="9873487" y="5791087"/>
            <a:ext cx="1654848" cy="889112"/>
          </a:xfrm>
          <a:prstGeom prst="rect">
            <a:avLst/>
          </a:prstGeom>
        </p:spPr>
      </p:pic>
      <p:pic>
        <p:nvPicPr>
          <p:cNvPr id="10" name="Imagen 9" descr="Imagen en blanco y negro&#10;&#10;Descripción generada automáticamente con confianza baja">
            <a:extLst>
              <a:ext uri="{FF2B5EF4-FFF2-40B4-BE49-F238E27FC236}">
                <a16:creationId xmlns:a16="http://schemas.microsoft.com/office/drawing/2014/main" id="{99FE47AE-1EDD-A448-DF7F-27B9685A6E3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756781" y="616515"/>
            <a:ext cx="1771555" cy="781719"/>
          </a:xfrm>
          <a:prstGeom prst="rect">
            <a:avLst/>
          </a:prstGeom>
        </p:spPr>
      </p:pic>
      <p:sp>
        <p:nvSpPr>
          <p:cNvPr id="11" name="Marcador de número de diapositiva 5">
            <a:extLst>
              <a:ext uri="{FF2B5EF4-FFF2-40B4-BE49-F238E27FC236}">
                <a16:creationId xmlns:a16="http://schemas.microsoft.com/office/drawing/2014/main" id="{4A678DEE-B015-8101-D2A5-B0CF2CC50DCE}"/>
              </a:ext>
            </a:extLst>
          </p:cNvPr>
          <p:cNvSpPr>
            <a:spLocks noGrp="1"/>
          </p:cNvSpPr>
          <p:nvPr>
            <p:ph type="sldNum" sz="quarter" idx="12"/>
          </p:nvPr>
        </p:nvSpPr>
        <p:spPr>
          <a:xfrm>
            <a:off x="9240974" y="6356351"/>
            <a:ext cx="2743200" cy="365125"/>
          </a:xfrm>
          <a:prstGeom prst="rect">
            <a:avLst/>
          </a:prstGeom>
        </p:spPr>
        <p:txBody>
          <a:bodyPr/>
          <a:lstStyle/>
          <a:p>
            <a:fld id="{8BFEBA87-C0CD-434A-9521-31AFCAE6F9CF}" type="slidenum">
              <a:rPr lang="es-CO" smtClean="0"/>
              <a:t>‹Nº›</a:t>
            </a:fld>
            <a:endParaRPr lang="es-CO"/>
          </a:p>
        </p:txBody>
      </p:sp>
    </p:spTree>
    <p:extLst>
      <p:ext uri="{BB962C8B-B14F-4D97-AF65-F5344CB8AC3E}">
        <p14:creationId xmlns:p14="http://schemas.microsoft.com/office/powerpoint/2010/main" val="2645239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an izquierdo">
    <p:bg>
      <p:bgPr>
        <a:gradFill flip="none" rotWithShape="1">
          <a:gsLst>
            <a:gs pos="0">
              <a:srgbClr val="00BF68"/>
            </a:gs>
            <a:gs pos="22000">
              <a:srgbClr val="F1EDFD"/>
            </a:gs>
            <a:gs pos="43362">
              <a:srgbClr val="FFFFFF"/>
            </a:gs>
            <a:gs pos="100000">
              <a:schemeClr val="bg2"/>
            </a:gs>
          </a:gsLst>
          <a:lin ang="13500000" scaled="1"/>
          <a:tileRect/>
        </a:gradFill>
        <a:effectLst/>
      </p:bgPr>
    </p:bg>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3A35B266-7DCA-654C-7955-58BC127763CC}"/>
              </a:ext>
            </a:extLst>
          </p:cNvPr>
          <p:cNvSpPr>
            <a:spLocks noGrp="1"/>
          </p:cNvSpPr>
          <p:nvPr>
            <p:ph type="dt" sz="half" idx="10"/>
          </p:nvPr>
        </p:nvSpPr>
        <p:spPr/>
        <p:txBody>
          <a:bodyPr/>
          <a:lstStyle/>
          <a:p>
            <a:fld id="{1D2D9744-518E-BD45-94F3-D6A6B2F19C60}" type="datetime1">
              <a:rPr lang="es-CO" smtClean="0"/>
              <a:t>27/01/2026</a:t>
            </a:fld>
            <a:endParaRPr lang="es-CO"/>
          </a:p>
        </p:txBody>
      </p:sp>
      <p:sp>
        <p:nvSpPr>
          <p:cNvPr id="6" name="Marcador de pie de página 5">
            <a:extLst>
              <a:ext uri="{FF2B5EF4-FFF2-40B4-BE49-F238E27FC236}">
                <a16:creationId xmlns:a16="http://schemas.microsoft.com/office/drawing/2014/main" id="{0185C7A7-4760-BABC-F173-80341140BA55}"/>
              </a:ext>
            </a:extLst>
          </p:cNvPr>
          <p:cNvSpPr>
            <a:spLocks noGrp="1"/>
          </p:cNvSpPr>
          <p:nvPr>
            <p:ph type="ftr" sz="quarter" idx="11"/>
          </p:nvPr>
        </p:nvSpPr>
        <p:spPr/>
        <p:txBody>
          <a:bodyPr/>
          <a:lstStyle/>
          <a:p>
            <a:endParaRPr lang="es-CO"/>
          </a:p>
        </p:txBody>
      </p:sp>
      <p:sp>
        <p:nvSpPr>
          <p:cNvPr id="8" name="Redondear rectángulo de esquina diagonal 7">
            <a:extLst>
              <a:ext uri="{FF2B5EF4-FFF2-40B4-BE49-F238E27FC236}">
                <a16:creationId xmlns:a16="http://schemas.microsoft.com/office/drawing/2014/main" id="{73269CFD-8E43-5D93-E8B8-EB1B96F160AE}"/>
              </a:ext>
            </a:extLst>
          </p:cNvPr>
          <p:cNvSpPr/>
          <p:nvPr userDrawn="1"/>
        </p:nvSpPr>
        <p:spPr>
          <a:xfrm>
            <a:off x="154127" y="177801"/>
            <a:ext cx="2628900" cy="6515100"/>
          </a:xfrm>
          <a:prstGeom prst="round2DiagRect">
            <a:avLst>
              <a:gd name="adj1" fmla="val 36972"/>
              <a:gd name="adj2" fmla="val 0"/>
            </a:avLst>
          </a:prstGeom>
          <a:gradFill flip="none" rotWithShape="1">
            <a:gsLst>
              <a:gs pos="0">
                <a:srgbClr val="00BF68"/>
              </a:gs>
              <a:gs pos="100000">
                <a:srgbClr val="0033A3"/>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1"/>
          </a:p>
        </p:txBody>
      </p:sp>
      <p:pic>
        <p:nvPicPr>
          <p:cNvPr id="9" name="Imagen 8">
            <a:extLst>
              <a:ext uri="{FF2B5EF4-FFF2-40B4-BE49-F238E27FC236}">
                <a16:creationId xmlns:a16="http://schemas.microsoft.com/office/drawing/2014/main" id="{3C4B1454-C8E0-9C97-8813-170752D086E5}"/>
              </a:ext>
            </a:extLst>
          </p:cNvPr>
          <p:cNvPicPr>
            <a:picLocks noChangeAspect="1"/>
          </p:cNvPicPr>
          <p:nvPr userDrawn="1"/>
        </p:nvPicPr>
        <p:blipFill rotWithShape="1">
          <a:blip r:embed="rId2"/>
          <a:srcRect b="-6551"/>
          <a:stretch/>
        </p:blipFill>
        <p:spPr>
          <a:xfrm>
            <a:off x="629613" y="5791087"/>
            <a:ext cx="1654848" cy="565264"/>
          </a:xfrm>
          <a:prstGeom prst="rect">
            <a:avLst/>
          </a:prstGeom>
        </p:spPr>
      </p:pic>
      <p:pic>
        <p:nvPicPr>
          <p:cNvPr id="10" name="Imagen 9" descr="Imagen en blanco y negro&#10;&#10;Descripción generada automáticamente con confianza baja">
            <a:extLst>
              <a:ext uri="{FF2B5EF4-FFF2-40B4-BE49-F238E27FC236}">
                <a16:creationId xmlns:a16="http://schemas.microsoft.com/office/drawing/2014/main" id="{99FE47AE-1EDD-A448-DF7F-27B9685A6E3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2907" y="616515"/>
            <a:ext cx="1771555" cy="781719"/>
          </a:xfrm>
          <a:prstGeom prst="rect">
            <a:avLst/>
          </a:prstGeom>
        </p:spPr>
      </p:pic>
      <p:sp>
        <p:nvSpPr>
          <p:cNvPr id="11" name="Marcador de número de diapositiva 5">
            <a:extLst>
              <a:ext uri="{FF2B5EF4-FFF2-40B4-BE49-F238E27FC236}">
                <a16:creationId xmlns:a16="http://schemas.microsoft.com/office/drawing/2014/main" id="{4A678DEE-B015-8101-D2A5-B0CF2CC50DCE}"/>
              </a:ext>
            </a:extLst>
          </p:cNvPr>
          <p:cNvSpPr>
            <a:spLocks noGrp="1"/>
          </p:cNvSpPr>
          <p:nvPr>
            <p:ph type="sldNum" sz="quarter" idx="12"/>
          </p:nvPr>
        </p:nvSpPr>
        <p:spPr>
          <a:xfrm>
            <a:off x="9240974" y="6356351"/>
            <a:ext cx="2743200" cy="365125"/>
          </a:xfrm>
          <a:prstGeom prst="rect">
            <a:avLst/>
          </a:prstGeom>
        </p:spPr>
        <p:txBody>
          <a:bodyPr/>
          <a:lstStyle/>
          <a:p>
            <a:fld id="{8BFEBA87-C0CD-434A-9521-31AFCAE6F9CF}" type="slidenum">
              <a:rPr lang="es-CO" smtClean="0"/>
              <a:t>‹Nº›</a:t>
            </a:fld>
            <a:endParaRPr lang="es-CO"/>
          </a:p>
        </p:txBody>
      </p:sp>
    </p:spTree>
    <p:extLst>
      <p:ext uri="{BB962C8B-B14F-4D97-AF65-F5344CB8AC3E}">
        <p14:creationId xmlns:p14="http://schemas.microsoft.com/office/powerpoint/2010/main" val="736768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ean izquierdo">
    <p:bg>
      <p:bgPr>
        <a:gradFill flip="none" rotWithShape="1">
          <a:gsLst>
            <a:gs pos="0">
              <a:srgbClr val="00BF68"/>
            </a:gs>
            <a:gs pos="9000">
              <a:srgbClr val="F1EDFD"/>
            </a:gs>
            <a:gs pos="43362">
              <a:srgbClr val="FFFFFF"/>
            </a:gs>
            <a:gs pos="100000">
              <a:schemeClr val="bg2"/>
            </a:gs>
          </a:gsLst>
          <a:lin ang="13500000" scaled="1"/>
          <a:tileRect/>
        </a:gradFill>
        <a:effectLst/>
      </p:bgPr>
    </p:bg>
    <p:spTree>
      <p:nvGrpSpPr>
        <p:cNvPr id="1" name=""/>
        <p:cNvGrpSpPr/>
        <p:nvPr/>
      </p:nvGrpSpPr>
      <p:grpSpPr>
        <a:xfrm>
          <a:off x="0" y="0"/>
          <a:ext cx="0" cy="0"/>
          <a:chOff x="0" y="0"/>
          <a:chExt cx="0" cy="0"/>
        </a:xfrm>
      </p:grpSpPr>
      <p:sp>
        <p:nvSpPr>
          <p:cNvPr id="11" name="Marcador de número de diapositiva 5">
            <a:extLst>
              <a:ext uri="{FF2B5EF4-FFF2-40B4-BE49-F238E27FC236}">
                <a16:creationId xmlns:a16="http://schemas.microsoft.com/office/drawing/2014/main" id="{4A678DEE-B015-8101-D2A5-B0CF2CC50DCE}"/>
              </a:ext>
            </a:extLst>
          </p:cNvPr>
          <p:cNvSpPr>
            <a:spLocks noGrp="1"/>
          </p:cNvSpPr>
          <p:nvPr>
            <p:ph type="sldNum" sz="quarter" idx="12"/>
          </p:nvPr>
        </p:nvSpPr>
        <p:spPr>
          <a:xfrm>
            <a:off x="9240974" y="6356351"/>
            <a:ext cx="2743200" cy="365125"/>
          </a:xfrm>
          <a:prstGeom prst="rect">
            <a:avLst/>
          </a:prstGeom>
        </p:spPr>
        <p:txBody>
          <a:bodyPr/>
          <a:lstStyle/>
          <a:p>
            <a:fld id="{8BFEBA87-C0CD-434A-9521-31AFCAE6F9CF}" type="slidenum">
              <a:rPr lang="es-CO" smtClean="0"/>
              <a:t>‹Nº›</a:t>
            </a:fld>
            <a:endParaRPr lang="es-CO"/>
          </a:p>
        </p:txBody>
      </p:sp>
    </p:spTree>
    <p:extLst>
      <p:ext uri="{BB962C8B-B14F-4D97-AF65-F5344CB8AC3E}">
        <p14:creationId xmlns:p14="http://schemas.microsoft.com/office/powerpoint/2010/main" val="83366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Pr>
        <a:gradFill>
          <a:gsLst>
            <a:gs pos="0">
              <a:srgbClr val="FFFFFF"/>
            </a:gs>
            <a:gs pos="100000">
              <a:schemeClr val="bg2"/>
            </a:gs>
          </a:gsLst>
          <a:lin ang="189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099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do pre-pos">
    <p:spTree>
      <p:nvGrpSpPr>
        <p:cNvPr id="1" name=""/>
        <p:cNvGrpSpPr/>
        <p:nvPr/>
      </p:nvGrpSpPr>
      <p:grpSpPr>
        <a:xfrm>
          <a:off x="0" y="0"/>
          <a:ext cx="0" cy="0"/>
          <a:chOff x="0" y="0"/>
          <a:chExt cx="0" cy="0"/>
        </a:xfrm>
      </p:grpSpPr>
      <p:sp>
        <p:nvSpPr>
          <p:cNvPr id="6" name="Redondear rectángulo de esquina diagonal 5">
            <a:extLst>
              <a:ext uri="{FF2B5EF4-FFF2-40B4-BE49-F238E27FC236}">
                <a16:creationId xmlns:a16="http://schemas.microsoft.com/office/drawing/2014/main" id="{0EDD2723-4807-E009-DD58-A2240C3006F6}"/>
              </a:ext>
            </a:extLst>
          </p:cNvPr>
          <p:cNvSpPr/>
          <p:nvPr userDrawn="1"/>
        </p:nvSpPr>
        <p:spPr>
          <a:xfrm>
            <a:off x="190500" y="171450"/>
            <a:ext cx="11811000" cy="6515100"/>
          </a:xfrm>
          <a:prstGeom prst="round2DiagRect">
            <a:avLst>
              <a:gd name="adj1" fmla="val 25158"/>
              <a:gd name="adj2" fmla="val 0"/>
            </a:avLst>
          </a:prstGeom>
          <a:gradFill>
            <a:gsLst>
              <a:gs pos="0">
                <a:srgbClr val="00BF68"/>
              </a:gs>
              <a:gs pos="100000">
                <a:srgbClr val="0033A3"/>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351"/>
          </a:p>
        </p:txBody>
      </p:sp>
    </p:spTree>
    <p:extLst>
      <p:ext uri="{BB962C8B-B14F-4D97-AF65-F5344CB8AC3E}">
        <p14:creationId xmlns:p14="http://schemas.microsoft.com/office/powerpoint/2010/main" val="4189468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43AF146-7143-CE7D-DBF8-D9DA258BFC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8F425A38-8290-2D8A-317E-0CB1CC63711B}"/>
              </a:ext>
            </a:extLst>
          </p:cNvPr>
          <p:cNvSpPr>
            <a:spLocks noGrp="1"/>
          </p:cNvSpPr>
          <p:nvPr>
            <p:ph type="body" idx="1"/>
          </p:nvPr>
        </p:nvSpPr>
        <p:spPr>
          <a:xfrm>
            <a:off x="838200" y="1825624"/>
            <a:ext cx="10515600" cy="4351339"/>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73DE2EB-069A-BF69-7993-E02092185573}"/>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930E20-03D8-9C4F-BAE0-AF2A6F89E293}" type="datetime1">
              <a:rPr lang="es-CO" smtClean="0"/>
              <a:t>27/01/2026</a:t>
            </a:fld>
            <a:endParaRPr lang="es-CO"/>
          </a:p>
        </p:txBody>
      </p:sp>
      <p:sp>
        <p:nvSpPr>
          <p:cNvPr id="5" name="Marcador de pie de página 4">
            <a:extLst>
              <a:ext uri="{FF2B5EF4-FFF2-40B4-BE49-F238E27FC236}">
                <a16:creationId xmlns:a16="http://schemas.microsoft.com/office/drawing/2014/main" id="{26948162-E825-E910-34DB-EE63429A311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E71DFD23-D8FA-2CBD-106C-DC44F2FF093F}"/>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FEBA87-C0CD-434A-9521-31AFCAE6F9CF}" type="slidenum">
              <a:rPr lang="es-CO" smtClean="0"/>
              <a:t>‹Nº›</a:t>
            </a:fld>
            <a:endParaRPr lang="es-CO"/>
          </a:p>
        </p:txBody>
      </p:sp>
    </p:spTree>
    <p:extLst>
      <p:ext uri="{BB962C8B-B14F-4D97-AF65-F5344CB8AC3E}">
        <p14:creationId xmlns:p14="http://schemas.microsoft.com/office/powerpoint/2010/main" val="1685788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8" r:id="rId6"/>
    <p:sldLayoutId id="2147483655" r:id="rId7"/>
    <p:sldLayoutId id="2147483657" r:id="rId8"/>
  </p:sldLayoutIdLst>
  <p:hf hdr="0" ftr="0" dt="0"/>
  <p:txStyles>
    <p:titleStyle>
      <a:lvl1pPr algn="l" defTabSz="914377" rtl="0" eaLnBrk="1" latinLnBrk="0" hangingPunct="1">
        <a:lnSpc>
          <a:spcPct val="90000"/>
        </a:lnSpc>
        <a:spcBef>
          <a:spcPct val="0"/>
        </a:spcBef>
        <a:buNone/>
        <a:defRPr sz="4400" b="1" kern="1200">
          <a:solidFill>
            <a:schemeClr val="tx1"/>
          </a:solidFill>
          <a:latin typeface="+mj-lt"/>
          <a:ea typeface="+mj-ea"/>
          <a:cs typeface="Poppins" pitchFamily="2" charset="77"/>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Poppins" pitchFamily="2" charset="77"/>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Poppins" pitchFamily="2" charset="77"/>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Poppins" pitchFamily="2" charset="77"/>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Poppins" pitchFamily="2" charset="77"/>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Poppins" pitchFamily="2" charset="77"/>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15BD4021-B294-8929-B636-4275663E2B2B}"/>
              </a:ext>
            </a:extLst>
          </p:cNvPr>
          <p:cNvSpPr txBox="1"/>
          <p:nvPr/>
        </p:nvSpPr>
        <p:spPr>
          <a:xfrm>
            <a:off x="710654" y="2336590"/>
            <a:ext cx="10591598" cy="646331"/>
          </a:xfrm>
          <a:prstGeom prst="rect">
            <a:avLst/>
          </a:prstGeom>
          <a:noFill/>
        </p:spPr>
        <p:txBody>
          <a:bodyPr wrap="square" rtlCol="0">
            <a:spAutoFit/>
          </a:bodyPr>
          <a:lstStyle/>
          <a:p>
            <a:pPr algn="ctr"/>
            <a:r>
              <a:rPr lang="es-ES" sz="3600" b="1" dirty="0">
                <a:solidFill>
                  <a:schemeClr val="bg1"/>
                </a:solidFill>
                <a:latin typeface="+mj-lt"/>
                <a:ea typeface="Calibri" panose="020F0502020204030204" pitchFamily="34" charset="0"/>
                <a:cs typeface="Times New Roman" panose="02020603050405020304" pitchFamily="18" charset="0"/>
              </a:rPr>
              <a:t>ALGORITMOS Y PROGRAMACIÓN</a:t>
            </a:r>
            <a:endParaRPr lang="en-US" sz="3600" b="1" dirty="0">
              <a:solidFill>
                <a:schemeClr val="bg1"/>
              </a:solidFill>
              <a:latin typeface="+mj-lt"/>
            </a:endParaRPr>
          </a:p>
        </p:txBody>
      </p:sp>
      <p:sp>
        <p:nvSpPr>
          <p:cNvPr id="5" name="TextBox 8">
            <a:extLst>
              <a:ext uri="{FF2B5EF4-FFF2-40B4-BE49-F238E27FC236}">
                <a16:creationId xmlns:a16="http://schemas.microsoft.com/office/drawing/2014/main" id="{43AFB699-66CF-F66E-1B5E-F0C5BC680104}"/>
              </a:ext>
            </a:extLst>
          </p:cNvPr>
          <p:cNvSpPr txBox="1"/>
          <p:nvPr/>
        </p:nvSpPr>
        <p:spPr>
          <a:xfrm>
            <a:off x="2398332" y="3717208"/>
            <a:ext cx="7395336" cy="400110"/>
          </a:xfrm>
          <a:prstGeom prst="rect">
            <a:avLst/>
          </a:prstGeom>
          <a:noFill/>
        </p:spPr>
        <p:txBody>
          <a:bodyPr wrap="square" rtlCol="0">
            <a:spAutoFit/>
          </a:bodyPr>
          <a:lstStyle/>
          <a:p>
            <a:pPr algn="ctr"/>
            <a:r>
              <a:rPr lang="en-US" sz="2000" dirty="0" err="1">
                <a:solidFill>
                  <a:schemeClr val="bg1"/>
                </a:solidFill>
                <a:ea typeface="Open Sans" pitchFamily="2" charset="0"/>
                <a:cs typeface="Open Sans" pitchFamily="2" charset="0"/>
              </a:rPr>
              <a:t>Fundamentos</a:t>
            </a:r>
            <a:endParaRPr lang="en-US" sz="2000" dirty="0">
              <a:solidFill>
                <a:schemeClr val="bg1"/>
              </a:solidFill>
              <a:ea typeface="Open Sans" pitchFamily="2" charset="0"/>
              <a:cs typeface="Open Sans" pitchFamily="2" charset="0"/>
            </a:endParaRPr>
          </a:p>
        </p:txBody>
      </p:sp>
      <p:pic>
        <p:nvPicPr>
          <p:cNvPr id="9" name="Imagen 8">
            <a:extLst>
              <a:ext uri="{FF2B5EF4-FFF2-40B4-BE49-F238E27FC236}">
                <a16:creationId xmlns:a16="http://schemas.microsoft.com/office/drawing/2014/main" id="{CE706348-402F-FE1A-90E3-D3A97D42FA70}"/>
              </a:ext>
            </a:extLst>
          </p:cNvPr>
          <p:cNvPicPr>
            <a:picLocks noChangeAspect="1"/>
          </p:cNvPicPr>
          <p:nvPr/>
        </p:nvPicPr>
        <p:blipFill>
          <a:blip r:embed="rId2"/>
          <a:stretch>
            <a:fillRect/>
          </a:stretch>
        </p:blipFill>
        <p:spPr>
          <a:xfrm>
            <a:off x="4154922" y="707909"/>
            <a:ext cx="3882159" cy="832539"/>
          </a:xfrm>
          <a:prstGeom prst="rect">
            <a:avLst/>
          </a:prstGeom>
        </p:spPr>
      </p:pic>
      <p:pic>
        <p:nvPicPr>
          <p:cNvPr id="29" name="Imagen 28">
            <a:extLst>
              <a:ext uri="{FF2B5EF4-FFF2-40B4-BE49-F238E27FC236}">
                <a16:creationId xmlns:a16="http://schemas.microsoft.com/office/drawing/2014/main" id="{DB44BB4D-4488-1F8C-4CE8-7C5F922C3C95}"/>
              </a:ext>
            </a:extLst>
          </p:cNvPr>
          <p:cNvPicPr>
            <a:picLocks noChangeAspect="1"/>
          </p:cNvPicPr>
          <p:nvPr/>
        </p:nvPicPr>
        <p:blipFill rotWithShape="1">
          <a:blip r:embed="rId3"/>
          <a:srcRect l="-348" t="-36810" r="348" b="-46693"/>
          <a:stretch/>
        </p:blipFill>
        <p:spPr>
          <a:xfrm>
            <a:off x="4753503" y="4530571"/>
            <a:ext cx="2505899" cy="1476091"/>
          </a:xfrm>
          <a:prstGeom prst="rect">
            <a:avLst/>
          </a:prstGeom>
        </p:spPr>
      </p:pic>
      <p:grpSp>
        <p:nvGrpSpPr>
          <p:cNvPr id="6" name="Grupo 5">
            <a:extLst>
              <a:ext uri="{FF2B5EF4-FFF2-40B4-BE49-F238E27FC236}">
                <a16:creationId xmlns:a16="http://schemas.microsoft.com/office/drawing/2014/main" id="{113A02A7-C6E6-E082-E418-66141A258CC1}"/>
              </a:ext>
            </a:extLst>
          </p:cNvPr>
          <p:cNvGrpSpPr/>
          <p:nvPr/>
        </p:nvGrpSpPr>
        <p:grpSpPr>
          <a:xfrm>
            <a:off x="4576420" y="5950798"/>
            <a:ext cx="2860063" cy="398585"/>
            <a:chOff x="3702806" y="6115443"/>
            <a:chExt cx="2860063" cy="398585"/>
          </a:xfrm>
        </p:grpSpPr>
        <p:grpSp>
          <p:nvGrpSpPr>
            <p:cNvPr id="2" name="Grupo 1">
              <a:extLst>
                <a:ext uri="{FF2B5EF4-FFF2-40B4-BE49-F238E27FC236}">
                  <a16:creationId xmlns:a16="http://schemas.microsoft.com/office/drawing/2014/main" id="{3E35ADA3-6A68-8C1B-BA28-6FE0CCB93D4C}"/>
                </a:ext>
              </a:extLst>
            </p:cNvPr>
            <p:cNvGrpSpPr/>
            <p:nvPr/>
          </p:nvGrpSpPr>
          <p:grpSpPr>
            <a:xfrm>
              <a:off x="3702806" y="6126422"/>
              <a:ext cx="2860063" cy="355277"/>
              <a:chOff x="3702806" y="6126422"/>
              <a:chExt cx="2860063" cy="355277"/>
            </a:xfrm>
          </p:grpSpPr>
          <p:pic>
            <p:nvPicPr>
              <p:cNvPr id="17" name="Imagen 16">
                <a:extLst>
                  <a:ext uri="{FF2B5EF4-FFF2-40B4-BE49-F238E27FC236}">
                    <a16:creationId xmlns:a16="http://schemas.microsoft.com/office/drawing/2014/main" id="{C55D030B-0005-30A1-2A37-BC39C6F0FC12}"/>
                  </a:ext>
                </a:extLst>
              </p:cNvPr>
              <p:cNvPicPr>
                <a:picLocks noChangeAspect="1"/>
              </p:cNvPicPr>
              <p:nvPr/>
            </p:nvPicPr>
            <p:blipFill>
              <a:blip r:embed="rId4"/>
              <a:stretch>
                <a:fillRect/>
              </a:stretch>
            </p:blipFill>
            <p:spPr>
              <a:xfrm>
                <a:off x="5438629" y="6177399"/>
                <a:ext cx="302240" cy="302240"/>
              </a:xfrm>
              <a:prstGeom prst="rect">
                <a:avLst/>
              </a:prstGeom>
            </p:spPr>
          </p:pic>
          <p:pic>
            <p:nvPicPr>
              <p:cNvPr id="21" name="Imagen 20">
                <a:extLst>
                  <a:ext uri="{FF2B5EF4-FFF2-40B4-BE49-F238E27FC236}">
                    <a16:creationId xmlns:a16="http://schemas.microsoft.com/office/drawing/2014/main" id="{195CD489-B6AE-C1FE-4231-6D844474FCB5}"/>
                  </a:ext>
                </a:extLst>
              </p:cNvPr>
              <p:cNvPicPr>
                <a:picLocks noChangeAspect="1"/>
              </p:cNvPicPr>
              <p:nvPr/>
            </p:nvPicPr>
            <p:blipFill>
              <a:blip r:embed="rId5"/>
              <a:stretch>
                <a:fillRect/>
              </a:stretch>
            </p:blipFill>
            <p:spPr>
              <a:xfrm>
                <a:off x="5032081" y="6131395"/>
                <a:ext cx="269624" cy="319635"/>
              </a:xfrm>
              <a:prstGeom prst="rect">
                <a:avLst/>
              </a:prstGeom>
            </p:spPr>
          </p:pic>
          <p:pic>
            <p:nvPicPr>
              <p:cNvPr id="23" name="Imagen 22">
                <a:extLst>
                  <a:ext uri="{FF2B5EF4-FFF2-40B4-BE49-F238E27FC236}">
                    <a16:creationId xmlns:a16="http://schemas.microsoft.com/office/drawing/2014/main" id="{00B49E52-7049-BD44-5EDF-B5A81B9C5FA9}"/>
                  </a:ext>
                </a:extLst>
              </p:cNvPr>
              <p:cNvPicPr>
                <a:picLocks noChangeAspect="1"/>
              </p:cNvPicPr>
              <p:nvPr/>
            </p:nvPicPr>
            <p:blipFill>
              <a:blip r:embed="rId6"/>
              <a:stretch>
                <a:fillRect/>
              </a:stretch>
            </p:blipFill>
            <p:spPr>
              <a:xfrm>
                <a:off x="6284548" y="6177286"/>
                <a:ext cx="278321" cy="304413"/>
              </a:xfrm>
              <a:prstGeom prst="rect">
                <a:avLst/>
              </a:prstGeom>
            </p:spPr>
          </p:pic>
          <p:sp>
            <p:nvSpPr>
              <p:cNvPr id="24" name="TextBox 8">
                <a:extLst>
                  <a:ext uri="{FF2B5EF4-FFF2-40B4-BE49-F238E27FC236}">
                    <a16:creationId xmlns:a16="http://schemas.microsoft.com/office/drawing/2014/main" id="{8420D61E-3CED-3934-8A18-C1E89D5310E0}"/>
                  </a:ext>
                </a:extLst>
              </p:cNvPr>
              <p:cNvSpPr txBox="1"/>
              <p:nvPr/>
            </p:nvSpPr>
            <p:spPr>
              <a:xfrm>
                <a:off x="3702806" y="6126422"/>
                <a:ext cx="1127901" cy="246221"/>
              </a:xfrm>
              <a:prstGeom prst="rect">
                <a:avLst/>
              </a:prstGeom>
              <a:noFill/>
            </p:spPr>
            <p:txBody>
              <a:bodyPr wrap="square" lIns="91440" tIns="45720" rIns="91440" bIns="45720" rtlCol="0" anchor="t">
                <a:spAutoFit/>
              </a:bodyPr>
              <a:lstStyle/>
              <a:p>
                <a:pPr algn="ctr"/>
                <a:r>
                  <a:rPr lang="en-US" sz="1000" dirty="0">
                    <a:solidFill>
                      <a:schemeClr val="bg1"/>
                    </a:solidFill>
                    <a:ea typeface="Open Sans" pitchFamily="2" charset="0"/>
                    <a:cs typeface="Open Sans" pitchFamily="2" charset="0"/>
                  </a:rPr>
                  <a:t>Acreditaciones:</a:t>
                </a:r>
              </a:p>
            </p:txBody>
          </p:sp>
        </p:grpSp>
        <p:pic>
          <p:nvPicPr>
            <p:cNvPr id="3" name="Imagen 2" descr="Sello de NO Discriminación">
              <a:extLst>
                <a:ext uri="{FF2B5EF4-FFF2-40B4-BE49-F238E27FC236}">
                  <a16:creationId xmlns:a16="http://schemas.microsoft.com/office/drawing/2014/main" id="{CA8B1436-ABA4-AAA2-8175-0CA3C69EE3D3}"/>
                </a:ext>
              </a:extLst>
            </p:cNvPr>
            <p:cNvPicPr>
              <a:picLocks noChangeAspect="1"/>
            </p:cNvPicPr>
            <p:nvPr/>
          </p:nvPicPr>
          <p:blipFill>
            <a:blip r:embed="rId7"/>
            <a:stretch>
              <a:fillRect/>
            </a:stretch>
          </p:blipFill>
          <p:spPr>
            <a:xfrm>
              <a:off x="5813550" y="6115443"/>
              <a:ext cx="379047" cy="398585"/>
            </a:xfrm>
            <a:prstGeom prst="rect">
              <a:avLst/>
            </a:prstGeom>
          </p:spPr>
        </p:pic>
      </p:grpSp>
    </p:spTree>
    <p:extLst>
      <p:ext uri="{BB962C8B-B14F-4D97-AF65-F5344CB8AC3E}">
        <p14:creationId xmlns:p14="http://schemas.microsoft.com/office/powerpoint/2010/main" val="942227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BF68"/>
            </a:gs>
            <a:gs pos="22000">
              <a:srgbClr val="F1EDFD"/>
            </a:gs>
            <a:gs pos="43362">
              <a:srgbClr val="FFFFFF"/>
            </a:gs>
            <a:gs pos="100000">
              <a:schemeClr val="bg2"/>
            </a:gs>
          </a:gsLst>
          <a:lin ang="18900000" scaled="1"/>
        </a:gradFill>
        <a:effectLst/>
      </p:bgPr>
    </p:bg>
    <p:spTree>
      <p:nvGrpSpPr>
        <p:cNvPr id="1" name=""/>
        <p:cNvGrpSpPr/>
        <p:nvPr/>
      </p:nvGrpSpPr>
      <p:grpSpPr>
        <a:xfrm>
          <a:off x="0" y="0"/>
          <a:ext cx="0" cy="0"/>
          <a:chOff x="0" y="0"/>
          <a:chExt cx="0" cy="0"/>
        </a:xfrm>
      </p:grpSpPr>
      <p:sp>
        <p:nvSpPr>
          <p:cNvPr id="23" name="Marcador de número de diapositiva 22">
            <a:extLst>
              <a:ext uri="{FF2B5EF4-FFF2-40B4-BE49-F238E27FC236}">
                <a16:creationId xmlns:a16="http://schemas.microsoft.com/office/drawing/2014/main" id="{9711A15A-72B8-7F6A-70F0-EC12D458697B}"/>
              </a:ext>
            </a:extLst>
          </p:cNvPr>
          <p:cNvSpPr>
            <a:spLocks noGrp="1"/>
          </p:cNvSpPr>
          <p:nvPr>
            <p:ph type="sldNum" sz="quarter" idx="12"/>
          </p:nvPr>
        </p:nvSpPr>
        <p:spPr/>
        <p:txBody>
          <a:bodyPr/>
          <a:lstStyle/>
          <a:p>
            <a:fld id="{8BFEBA87-C0CD-434A-9521-31AFCAE6F9CF}" type="slidenum">
              <a:rPr lang="es-CO" smtClean="0"/>
              <a:t>2</a:t>
            </a:fld>
            <a:endParaRPr lang="es-CO"/>
          </a:p>
        </p:txBody>
      </p:sp>
      <p:pic>
        <p:nvPicPr>
          <p:cNvPr id="18" name="Imagen 17">
            <a:extLst>
              <a:ext uri="{FF2B5EF4-FFF2-40B4-BE49-F238E27FC236}">
                <a16:creationId xmlns:a16="http://schemas.microsoft.com/office/drawing/2014/main" id="{0F058818-2344-C8B8-5689-02CBC904AAD2}"/>
              </a:ext>
            </a:extLst>
          </p:cNvPr>
          <p:cNvPicPr>
            <a:picLocks noChangeAspect="1"/>
          </p:cNvPicPr>
          <p:nvPr/>
        </p:nvPicPr>
        <p:blipFill rotWithShape="1">
          <a:blip r:embed="rId2"/>
          <a:srcRect l="-42411" r="42411"/>
          <a:stretch/>
        </p:blipFill>
        <p:spPr>
          <a:xfrm>
            <a:off x="-639543" y="6107554"/>
            <a:ext cx="2320297" cy="497594"/>
          </a:xfrm>
          <a:prstGeom prst="rect">
            <a:avLst/>
          </a:prstGeom>
        </p:spPr>
      </p:pic>
      <p:sp>
        <p:nvSpPr>
          <p:cNvPr id="19" name="TextBox 5">
            <a:extLst>
              <a:ext uri="{FF2B5EF4-FFF2-40B4-BE49-F238E27FC236}">
                <a16:creationId xmlns:a16="http://schemas.microsoft.com/office/drawing/2014/main" id="{1EEBCB78-3750-2419-B5AE-3284F5EA03F1}"/>
              </a:ext>
            </a:extLst>
          </p:cNvPr>
          <p:cNvSpPr txBox="1"/>
          <p:nvPr/>
        </p:nvSpPr>
        <p:spPr>
          <a:xfrm>
            <a:off x="120786" y="183952"/>
            <a:ext cx="4667484" cy="584775"/>
          </a:xfrm>
          <a:prstGeom prst="rect">
            <a:avLst/>
          </a:prstGeom>
          <a:noFill/>
        </p:spPr>
        <p:txBody>
          <a:bodyPr wrap="square" rtlCol="0">
            <a:spAutoFit/>
          </a:bodyPr>
          <a:lstStyle/>
          <a:p>
            <a:r>
              <a:rPr lang="en-ID" sz="3200" b="1" dirty="0" err="1">
                <a:solidFill>
                  <a:schemeClr val="tx1">
                    <a:lumMod val="85000"/>
                    <a:lumOff val="15000"/>
                  </a:schemeClr>
                </a:solidFill>
                <a:latin typeface="+mj-lt"/>
                <a:ea typeface="Calibri" panose="020F0502020204030204" pitchFamily="34" charset="0"/>
                <a:cs typeface="Times New Roman" panose="02020603050405020304" pitchFamily="18" charset="0"/>
              </a:rPr>
              <a:t>Definición</a:t>
            </a:r>
            <a:r>
              <a:rPr lang="en-ID" sz="3200" b="1" dirty="0">
                <a:solidFill>
                  <a:schemeClr val="tx1">
                    <a:lumMod val="85000"/>
                    <a:lumOff val="15000"/>
                  </a:schemeClr>
                </a:solidFill>
                <a:latin typeface="+mj-lt"/>
                <a:ea typeface="Calibri" panose="020F0502020204030204" pitchFamily="34" charset="0"/>
                <a:cs typeface="Times New Roman" panose="02020603050405020304" pitchFamily="18" charset="0"/>
              </a:rPr>
              <a:t> de </a:t>
            </a:r>
            <a:r>
              <a:rPr lang="en-ID" sz="3200" b="1" dirty="0" err="1">
                <a:solidFill>
                  <a:schemeClr val="tx1">
                    <a:lumMod val="85000"/>
                    <a:lumOff val="15000"/>
                  </a:schemeClr>
                </a:solidFill>
                <a:latin typeface="+mj-lt"/>
                <a:ea typeface="Calibri" panose="020F0502020204030204" pitchFamily="34" charset="0"/>
                <a:cs typeface="Times New Roman" panose="02020603050405020304" pitchFamily="18" charset="0"/>
              </a:rPr>
              <a:t>algoritmo</a:t>
            </a:r>
            <a:endParaRPr lang="en-ID" sz="3200" b="1" dirty="0">
              <a:solidFill>
                <a:schemeClr val="tx1">
                  <a:lumMod val="85000"/>
                  <a:lumOff val="15000"/>
                </a:schemeClr>
              </a:solidFill>
              <a:latin typeface="+mj-lt"/>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08824088-5B71-4992-A360-D64ED990F40D}"/>
              </a:ext>
            </a:extLst>
          </p:cNvPr>
          <p:cNvSpPr txBox="1"/>
          <p:nvPr/>
        </p:nvSpPr>
        <p:spPr>
          <a:xfrm>
            <a:off x="978721" y="768727"/>
            <a:ext cx="9019712" cy="5940088"/>
          </a:xfrm>
          <a:prstGeom prst="rect">
            <a:avLst/>
          </a:prstGeom>
          <a:noFill/>
        </p:spPr>
        <p:txBody>
          <a:bodyPr wrap="square">
            <a:spAutoFit/>
          </a:bodyPr>
          <a:lstStyle/>
          <a:p>
            <a:pPr algn="just"/>
            <a:r>
              <a:rPr lang="es-ES" b="0" i="0" dirty="0">
                <a:solidFill>
                  <a:srgbClr val="000000"/>
                </a:solidFill>
                <a:effectLst/>
                <a:latin typeface="+mj-lt"/>
              </a:rPr>
              <a:t>Un algoritmo es una secuencia de pasos que deben ejecutarse en cierto orden.</a:t>
            </a:r>
          </a:p>
          <a:p>
            <a:pPr algn="just"/>
            <a:r>
              <a:rPr lang="es-ES" b="0" i="0" dirty="0">
                <a:solidFill>
                  <a:srgbClr val="000000"/>
                </a:solidFill>
                <a:effectLst/>
                <a:latin typeface="+mj-lt"/>
              </a:rPr>
              <a:t>Representan la manera de llevar a cabo una tarea, una función o un procedimiento.</a:t>
            </a:r>
          </a:p>
          <a:p>
            <a:pPr algn="just"/>
            <a:r>
              <a:rPr lang="es-ES" b="0" i="0" dirty="0">
                <a:solidFill>
                  <a:srgbClr val="000000"/>
                </a:solidFill>
                <a:effectLst/>
                <a:latin typeface="+mj-lt"/>
              </a:rPr>
              <a:t>Un algoritmo implica un conjunto de acciones a llevar a cabo, las decisiones referentes a cuándo ejecutarlas, y la secuencia de dichas acciones y decisiones. (Ayala. G,2020)</a:t>
            </a:r>
          </a:p>
          <a:p>
            <a:pPr algn="just"/>
            <a:endParaRPr lang="es-ES" b="0" i="0" dirty="0">
              <a:solidFill>
                <a:srgbClr val="000000"/>
              </a:solidFill>
              <a:effectLst/>
              <a:latin typeface="+mj-lt"/>
            </a:endParaRPr>
          </a:p>
          <a:p>
            <a:pPr algn="just"/>
            <a:r>
              <a:rPr lang="es-ES" sz="2000" b="1" i="0" dirty="0">
                <a:solidFill>
                  <a:schemeClr val="accent6">
                    <a:lumMod val="50000"/>
                  </a:schemeClr>
                </a:solidFill>
                <a:effectLst/>
                <a:latin typeface="+mj-lt"/>
              </a:rPr>
              <a:t>Características de los algoritmos</a:t>
            </a:r>
          </a:p>
          <a:p>
            <a:pPr algn="just"/>
            <a:r>
              <a:rPr lang="es-ES" b="0" i="0" dirty="0">
                <a:solidFill>
                  <a:srgbClr val="000000"/>
                </a:solidFill>
                <a:effectLst/>
                <a:latin typeface="+mj-lt"/>
              </a:rPr>
              <a:t>Los algoritmos tienen cinco características:</a:t>
            </a:r>
          </a:p>
          <a:p>
            <a:pPr algn="just"/>
            <a:endParaRPr lang="es-ES" b="1" dirty="0">
              <a:solidFill>
                <a:srgbClr val="000000"/>
              </a:solidFill>
              <a:latin typeface="+mj-lt"/>
            </a:endParaRPr>
          </a:p>
          <a:p>
            <a:pPr algn="just"/>
            <a:r>
              <a:rPr lang="es-ES" b="1" i="0" dirty="0">
                <a:solidFill>
                  <a:srgbClr val="000000"/>
                </a:solidFill>
                <a:effectLst/>
                <a:latin typeface="+mj-lt"/>
              </a:rPr>
              <a:t>1.</a:t>
            </a:r>
            <a:r>
              <a:rPr lang="es-ES" b="0" i="0" dirty="0">
                <a:solidFill>
                  <a:srgbClr val="000000"/>
                </a:solidFill>
                <a:effectLst/>
                <a:latin typeface="+mj-lt"/>
              </a:rPr>
              <a:t> </a:t>
            </a:r>
            <a:r>
              <a:rPr lang="es-ES" b="1" i="0" dirty="0">
                <a:solidFill>
                  <a:srgbClr val="000000"/>
                </a:solidFill>
                <a:effectLst/>
                <a:latin typeface="+mj-lt"/>
              </a:rPr>
              <a:t>Son finitos</a:t>
            </a:r>
            <a:r>
              <a:rPr lang="es-ES" b="0" i="0" dirty="0">
                <a:solidFill>
                  <a:srgbClr val="000000"/>
                </a:solidFill>
                <a:effectLst/>
                <a:latin typeface="+mj-lt"/>
              </a:rPr>
              <a:t>: finaliza después de un número finito de pasos.</a:t>
            </a:r>
          </a:p>
          <a:p>
            <a:pPr algn="just"/>
            <a:endParaRPr lang="es-ES" b="0" i="0" dirty="0">
              <a:solidFill>
                <a:srgbClr val="000000"/>
              </a:solidFill>
              <a:effectLst/>
              <a:latin typeface="+mj-lt"/>
            </a:endParaRPr>
          </a:p>
          <a:p>
            <a:pPr algn="just"/>
            <a:r>
              <a:rPr lang="es-ES" b="1" i="0" dirty="0">
                <a:solidFill>
                  <a:srgbClr val="000000"/>
                </a:solidFill>
                <a:effectLst/>
                <a:latin typeface="+mj-lt"/>
              </a:rPr>
              <a:t>2.</a:t>
            </a:r>
            <a:r>
              <a:rPr lang="es-ES" b="0" i="0" dirty="0">
                <a:solidFill>
                  <a:srgbClr val="000000"/>
                </a:solidFill>
                <a:effectLst/>
                <a:latin typeface="+mj-lt"/>
              </a:rPr>
              <a:t> </a:t>
            </a:r>
            <a:r>
              <a:rPr lang="es-ES" b="1" i="0" dirty="0">
                <a:solidFill>
                  <a:srgbClr val="000000"/>
                </a:solidFill>
                <a:effectLst/>
                <a:latin typeface="+mj-lt"/>
              </a:rPr>
              <a:t>Tienen un proceso definido</a:t>
            </a:r>
            <a:r>
              <a:rPr lang="es-ES" b="0" i="0" dirty="0">
                <a:solidFill>
                  <a:srgbClr val="000000"/>
                </a:solidFill>
                <a:effectLst/>
                <a:latin typeface="+mj-lt"/>
              </a:rPr>
              <a:t>: Cada paso debe ser definido con precisión y sin ambigüedades.</a:t>
            </a:r>
          </a:p>
          <a:p>
            <a:pPr algn="just"/>
            <a:endParaRPr lang="es-ES" b="0" i="0" dirty="0">
              <a:solidFill>
                <a:srgbClr val="000000"/>
              </a:solidFill>
              <a:effectLst/>
              <a:latin typeface="+mj-lt"/>
            </a:endParaRPr>
          </a:p>
          <a:p>
            <a:pPr algn="just"/>
            <a:r>
              <a:rPr lang="es-ES" b="1" i="0" dirty="0">
                <a:solidFill>
                  <a:srgbClr val="000000"/>
                </a:solidFill>
                <a:effectLst/>
                <a:latin typeface="+mj-lt"/>
              </a:rPr>
              <a:t>3. Consideran Datos de entrada</a:t>
            </a:r>
            <a:r>
              <a:rPr lang="es-ES" b="0" i="0" dirty="0">
                <a:solidFill>
                  <a:srgbClr val="000000"/>
                </a:solidFill>
                <a:effectLst/>
                <a:latin typeface="+mj-lt"/>
              </a:rPr>
              <a:t>: Normalmente un algoritmo tiene datos de entrada que son suministro para el proceso.</a:t>
            </a:r>
          </a:p>
          <a:p>
            <a:pPr algn="just"/>
            <a:endParaRPr lang="es-ES" b="0" i="0" dirty="0">
              <a:solidFill>
                <a:srgbClr val="000000"/>
              </a:solidFill>
              <a:effectLst/>
              <a:latin typeface="+mj-lt"/>
            </a:endParaRPr>
          </a:p>
          <a:p>
            <a:pPr algn="just"/>
            <a:r>
              <a:rPr lang="es-ES" b="1" i="0" dirty="0">
                <a:solidFill>
                  <a:srgbClr val="000000"/>
                </a:solidFill>
                <a:effectLst/>
                <a:latin typeface="+mj-lt"/>
              </a:rPr>
              <a:t>4. Proporcionan datos de salida:</a:t>
            </a:r>
            <a:r>
              <a:rPr lang="es-ES" b="0" i="0" dirty="0">
                <a:solidFill>
                  <a:srgbClr val="000000"/>
                </a:solidFill>
                <a:effectLst/>
                <a:latin typeface="+mj-lt"/>
              </a:rPr>
              <a:t> Es el resultado del procesamiento de los datos.</a:t>
            </a:r>
          </a:p>
          <a:p>
            <a:pPr algn="just"/>
            <a:endParaRPr lang="es-ES" b="0" i="0" dirty="0">
              <a:solidFill>
                <a:srgbClr val="000000"/>
              </a:solidFill>
              <a:effectLst/>
              <a:latin typeface="+mj-lt"/>
            </a:endParaRPr>
          </a:p>
          <a:p>
            <a:pPr algn="just"/>
            <a:r>
              <a:rPr lang="es-ES" b="1" i="0" dirty="0">
                <a:solidFill>
                  <a:srgbClr val="000000"/>
                </a:solidFill>
                <a:effectLst/>
                <a:latin typeface="+mj-lt"/>
              </a:rPr>
              <a:t>5. Son Efectivos: </a:t>
            </a:r>
            <a:r>
              <a:rPr lang="es-ES" b="0" i="0" dirty="0">
                <a:solidFill>
                  <a:srgbClr val="000000"/>
                </a:solidFill>
                <a:effectLst/>
                <a:latin typeface="+mj-lt"/>
              </a:rPr>
              <a:t>El algoritmo debe hacer exclusivamente aquello para lo que está siendo diseñado</a:t>
            </a:r>
          </a:p>
        </p:txBody>
      </p:sp>
    </p:spTree>
    <p:extLst>
      <p:ext uri="{BB962C8B-B14F-4D97-AF65-F5344CB8AC3E}">
        <p14:creationId xmlns:p14="http://schemas.microsoft.com/office/powerpoint/2010/main" val="3260436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3</a:t>
            </a:fld>
            <a:endParaRPr lang="es-CO"/>
          </a:p>
        </p:txBody>
      </p:sp>
      <p:pic>
        <p:nvPicPr>
          <p:cNvPr id="4" name="Imagen 3">
            <a:extLst>
              <a:ext uri="{FF2B5EF4-FFF2-40B4-BE49-F238E27FC236}">
                <a16:creationId xmlns:a16="http://schemas.microsoft.com/office/drawing/2014/main" id="{0F058818-2344-C8B8-5689-02CBC904AAD2}"/>
              </a:ext>
            </a:extLst>
          </p:cNvPr>
          <p:cNvPicPr>
            <a:picLocks noChangeAspect="1"/>
          </p:cNvPicPr>
          <p:nvPr/>
        </p:nvPicPr>
        <p:blipFill rotWithShape="1">
          <a:blip r:embed="rId2"/>
          <a:srcRect l="-42411" r="42411"/>
          <a:stretch/>
        </p:blipFill>
        <p:spPr>
          <a:xfrm>
            <a:off x="9663877" y="5858757"/>
            <a:ext cx="2320297" cy="497594"/>
          </a:xfrm>
          <a:prstGeom prst="rect">
            <a:avLst/>
          </a:prstGeom>
        </p:spPr>
      </p:pic>
      <p:sp>
        <p:nvSpPr>
          <p:cNvPr id="7" name="TextBox 5">
            <a:extLst>
              <a:ext uri="{FF2B5EF4-FFF2-40B4-BE49-F238E27FC236}">
                <a16:creationId xmlns:a16="http://schemas.microsoft.com/office/drawing/2014/main" id="{1EEBCB78-3750-2419-B5AE-3284F5EA03F1}"/>
              </a:ext>
            </a:extLst>
          </p:cNvPr>
          <p:cNvSpPr txBox="1"/>
          <p:nvPr/>
        </p:nvSpPr>
        <p:spPr>
          <a:xfrm>
            <a:off x="391263" y="167555"/>
            <a:ext cx="6342046" cy="1077218"/>
          </a:xfrm>
          <a:prstGeom prst="rect">
            <a:avLst/>
          </a:prstGeom>
          <a:noFill/>
        </p:spPr>
        <p:txBody>
          <a:bodyPr wrap="square" rtlCol="0">
            <a:spAutoFit/>
          </a:bodyPr>
          <a:lstStyle/>
          <a:p>
            <a:r>
              <a:rPr lang="es-ES" sz="3200" b="1" dirty="0">
                <a:solidFill>
                  <a:schemeClr val="tx1">
                    <a:lumMod val="85000"/>
                    <a:lumOff val="15000"/>
                  </a:schemeClr>
                </a:solidFill>
                <a:latin typeface="+mj-lt"/>
                <a:ea typeface="Calibri" panose="020F0502020204030204" pitchFamily="34" charset="0"/>
                <a:cs typeface="Times New Roman" panose="02020603050405020304" pitchFamily="18" charset="0"/>
              </a:rPr>
              <a:t>Ejemplo – Algoritmo Huevos con vegetales</a:t>
            </a:r>
          </a:p>
        </p:txBody>
      </p:sp>
      <p:pic>
        <p:nvPicPr>
          <p:cNvPr id="3" name="Picture 2" descr="Dibujo animado de un personaje con la boca abierta&#10;&#10;El contenido generado por IA puede ser incorrecto.">
            <a:extLst>
              <a:ext uri="{FF2B5EF4-FFF2-40B4-BE49-F238E27FC236}">
                <a16:creationId xmlns:a16="http://schemas.microsoft.com/office/drawing/2014/main" id="{6087FA57-E15C-745D-2235-F804D9F8DE34}"/>
              </a:ext>
            </a:extLst>
          </p:cNvPr>
          <p:cNvPicPr>
            <a:picLocks noChangeAspect="1"/>
          </p:cNvPicPr>
          <p:nvPr/>
        </p:nvPicPr>
        <p:blipFill>
          <a:blip r:embed="rId3"/>
          <a:stretch>
            <a:fillRect/>
          </a:stretch>
        </p:blipFill>
        <p:spPr>
          <a:xfrm rot="5400000">
            <a:off x="450117" y="3299680"/>
            <a:ext cx="3105150" cy="4010025"/>
          </a:xfrm>
          <a:prstGeom prst="rect">
            <a:avLst/>
          </a:prstGeom>
        </p:spPr>
      </p:pic>
      <p:sp>
        <p:nvSpPr>
          <p:cNvPr id="9" name="CuadroTexto 8">
            <a:extLst>
              <a:ext uri="{FF2B5EF4-FFF2-40B4-BE49-F238E27FC236}">
                <a16:creationId xmlns:a16="http://schemas.microsoft.com/office/drawing/2014/main" id="{AB6A65B9-A4F9-474D-A405-015CCF60E0BD}"/>
              </a:ext>
            </a:extLst>
          </p:cNvPr>
          <p:cNvSpPr txBox="1"/>
          <p:nvPr/>
        </p:nvSpPr>
        <p:spPr>
          <a:xfrm>
            <a:off x="476384" y="1338101"/>
            <a:ext cx="2794247" cy="2585323"/>
          </a:xfrm>
          <a:prstGeom prst="rect">
            <a:avLst/>
          </a:prstGeom>
          <a:noFill/>
        </p:spPr>
        <p:txBody>
          <a:bodyPr wrap="square">
            <a:spAutoFit/>
          </a:bodyPr>
          <a:lstStyle/>
          <a:p>
            <a:pPr algn="l"/>
            <a:r>
              <a:rPr lang="es-ES" b="1" i="0" dirty="0">
                <a:solidFill>
                  <a:srgbClr val="000000"/>
                </a:solidFill>
                <a:effectLst/>
                <a:latin typeface="+mj-lt"/>
              </a:rPr>
              <a:t>Entradas:</a:t>
            </a:r>
            <a:endParaRPr lang="es-ES" b="0" i="0" dirty="0">
              <a:solidFill>
                <a:srgbClr val="000000"/>
              </a:solidFill>
              <a:effectLst/>
              <a:latin typeface="+mj-lt"/>
            </a:endParaRPr>
          </a:p>
          <a:p>
            <a:pPr algn="l">
              <a:buFont typeface="Arial" panose="020B0604020202020204" pitchFamily="34" charset="0"/>
              <a:buChar char="•"/>
            </a:pPr>
            <a:r>
              <a:rPr lang="es-ES" b="0" i="0" dirty="0">
                <a:solidFill>
                  <a:srgbClr val="000000"/>
                </a:solidFill>
                <a:effectLst/>
                <a:latin typeface="+mj-lt"/>
              </a:rPr>
              <a:t> 3 huevos</a:t>
            </a:r>
          </a:p>
          <a:p>
            <a:pPr algn="l">
              <a:buFont typeface="Arial" panose="020B0604020202020204" pitchFamily="34" charset="0"/>
              <a:buChar char="•"/>
            </a:pPr>
            <a:endParaRPr lang="es-ES" b="0" i="0" dirty="0">
              <a:solidFill>
                <a:srgbClr val="000000"/>
              </a:solidFill>
              <a:effectLst/>
              <a:latin typeface="+mj-lt"/>
            </a:endParaRPr>
          </a:p>
          <a:p>
            <a:pPr algn="l">
              <a:buFont typeface="Arial" panose="020B0604020202020204" pitchFamily="34" charset="0"/>
              <a:buChar char="•"/>
            </a:pPr>
            <a:r>
              <a:rPr lang="es-ES" b="0" i="0" dirty="0">
                <a:solidFill>
                  <a:srgbClr val="000000"/>
                </a:solidFill>
                <a:effectLst/>
                <a:latin typeface="+mj-lt"/>
              </a:rPr>
              <a:t>cebolla o pimentón</a:t>
            </a:r>
          </a:p>
          <a:p>
            <a:pPr algn="l">
              <a:buFont typeface="Arial" panose="020B0604020202020204" pitchFamily="34" charset="0"/>
              <a:buChar char="•"/>
            </a:pPr>
            <a:r>
              <a:rPr lang="es-ES" b="0" i="0" dirty="0">
                <a:solidFill>
                  <a:srgbClr val="000000"/>
                </a:solidFill>
                <a:effectLst/>
                <a:latin typeface="+mj-lt"/>
              </a:rPr>
              <a:t>Tomate</a:t>
            </a:r>
          </a:p>
          <a:p>
            <a:pPr algn="l">
              <a:buFont typeface="Arial" panose="020B0604020202020204" pitchFamily="34" charset="0"/>
              <a:buChar char="•"/>
            </a:pPr>
            <a:endParaRPr lang="es-ES" b="0" i="0" dirty="0">
              <a:solidFill>
                <a:srgbClr val="000000"/>
              </a:solidFill>
              <a:effectLst/>
              <a:latin typeface="+mj-lt"/>
            </a:endParaRPr>
          </a:p>
          <a:p>
            <a:pPr algn="l">
              <a:buFont typeface="Arial" panose="020B0604020202020204" pitchFamily="34" charset="0"/>
              <a:buChar char="•"/>
            </a:pPr>
            <a:r>
              <a:rPr lang="es-ES" b="0" i="0" dirty="0">
                <a:solidFill>
                  <a:srgbClr val="000000"/>
                </a:solidFill>
                <a:effectLst/>
                <a:latin typeface="+mj-lt"/>
              </a:rPr>
              <a:t>1 cucharada de aceite</a:t>
            </a:r>
          </a:p>
          <a:p>
            <a:pPr algn="l">
              <a:buFont typeface="Arial" panose="020B0604020202020204" pitchFamily="34" charset="0"/>
              <a:buChar char="•"/>
            </a:pPr>
            <a:r>
              <a:rPr lang="es-ES" b="0" i="0" dirty="0">
                <a:solidFill>
                  <a:srgbClr val="000000"/>
                </a:solidFill>
                <a:effectLst/>
                <a:latin typeface="+mj-lt"/>
              </a:rPr>
              <a:t>sal al gusto</a:t>
            </a:r>
          </a:p>
          <a:p>
            <a:pPr algn="l">
              <a:buFont typeface="Arial" panose="020B0604020202020204" pitchFamily="34" charset="0"/>
              <a:buChar char="•"/>
            </a:pPr>
            <a:r>
              <a:rPr lang="es-ES" b="0" i="0" dirty="0">
                <a:solidFill>
                  <a:srgbClr val="000000"/>
                </a:solidFill>
                <a:effectLst/>
                <a:latin typeface="+mj-lt"/>
              </a:rPr>
              <a:t>pimienta al gusto</a:t>
            </a:r>
          </a:p>
        </p:txBody>
      </p:sp>
      <p:sp>
        <p:nvSpPr>
          <p:cNvPr id="10" name="CuadroTexto 9">
            <a:extLst>
              <a:ext uri="{FF2B5EF4-FFF2-40B4-BE49-F238E27FC236}">
                <a16:creationId xmlns:a16="http://schemas.microsoft.com/office/drawing/2014/main" id="{D46E196C-7A44-43E7-B6C6-B089066D6772}"/>
              </a:ext>
            </a:extLst>
          </p:cNvPr>
          <p:cNvSpPr txBox="1"/>
          <p:nvPr/>
        </p:nvSpPr>
        <p:spPr>
          <a:xfrm>
            <a:off x="3749336" y="1057375"/>
            <a:ext cx="7961050" cy="4801314"/>
          </a:xfrm>
          <a:prstGeom prst="rect">
            <a:avLst/>
          </a:prstGeom>
          <a:noFill/>
        </p:spPr>
        <p:txBody>
          <a:bodyPr wrap="square">
            <a:spAutoFit/>
          </a:bodyPr>
          <a:lstStyle/>
          <a:p>
            <a:pPr algn="l"/>
            <a:r>
              <a:rPr lang="es-ES" b="1" i="0" dirty="0">
                <a:solidFill>
                  <a:srgbClr val="000000"/>
                </a:solidFill>
                <a:effectLst/>
              </a:rPr>
              <a:t>Proceso:</a:t>
            </a:r>
          </a:p>
          <a:p>
            <a:pPr algn="l"/>
            <a:endParaRPr lang="es-ES" b="0" i="0" dirty="0">
              <a:solidFill>
                <a:srgbClr val="000000"/>
              </a:solidFill>
              <a:effectLst/>
            </a:endParaRPr>
          </a:p>
          <a:p>
            <a:pPr algn="l">
              <a:buFont typeface="+mj-lt"/>
              <a:buAutoNum type="arabicPeriod"/>
            </a:pPr>
            <a:r>
              <a:rPr lang="es-ES" b="0" i="0" dirty="0">
                <a:solidFill>
                  <a:srgbClr val="000000"/>
                </a:solidFill>
                <a:effectLst/>
              </a:rPr>
              <a:t>Lavar bien todos los vegetales de la lista.</a:t>
            </a:r>
          </a:p>
          <a:p>
            <a:pPr algn="l">
              <a:buFont typeface="+mj-lt"/>
              <a:buAutoNum type="arabicPeriod"/>
            </a:pPr>
            <a:r>
              <a:rPr lang="es-ES" b="0" i="0" dirty="0">
                <a:solidFill>
                  <a:srgbClr val="000000"/>
                </a:solidFill>
                <a:effectLst/>
              </a:rPr>
              <a:t>Picar los vegetales en trozos pequeños.</a:t>
            </a:r>
          </a:p>
          <a:p>
            <a:pPr algn="l">
              <a:buFont typeface="+mj-lt"/>
              <a:buAutoNum type="arabicPeriod"/>
            </a:pPr>
            <a:r>
              <a:rPr lang="es-ES" b="0" i="0" dirty="0">
                <a:solidFill>
                  <a:srgbClr val="000000"/>
                </a:solidFill>
                <a:effectLst/>
              </a:rPr>
              <a:t>Romper los huevos y colocarlos en un recipiente.</a:t>
            </a:r>
          </a:p>
          <a:p>
            <a:pPr algn="l">
              <a:buFont typeface="+mj-lt"/>
              <a:buAutoNum type="arabicPeriod"/>
            </a:pPr>
            <a:r>
              <a:rPr lang="es-ES" b="0" i="0" dirty="0">
                <a:solidFill>
                  <a:srgbClr val="000000"/>
                </a:solidFill>
                <a:effectLst/>
              </a:rPr>
              <a:t>Agregar sal y pimienta a los huevos y batirlos.</a:t>
            </a:r>
          </a:p>
          <a:p>
            <a:pPr algn="l">
              <a:buFont typeface="+mj-lt"/>
              <a:buAutoNum type="arabicPeriod"/>
            </a:pPr>
            <a:r>
              <a:rPr lang="es-ES" b="0" i="0" dirty="0">
                <a:solidFill>
                  <a:srgbClr val="000000"/>
                </a:solidFill>
                <a:effectLst/>
              </a:rPr>
              <a:t>Calentar un sartén a fuego medio y añadir el aceite.</a:t>
            </a:r>
          </a:p>
          <a:p>
            <a:pPr algn="l">
              <a:buFont typeface="+mj-lt"/>
              <a:buAutoNum type="arabicPeriod"/>
            </a:pPr>
            <a:r>
              <a:rPr lang="es-ES" b="1" i="0" dirty="0">
                <a:solidFill>
                  <a:srgbClr val="000000"/>
                </a:solidFill>
                <a:effectLst/>
              </a:rPr>
              <a:t>Si hay cebolla</a:t>
            </a:r>
            <a:r>
              <a:rPr lang="es-ES" b="0" i="0" dirty="0">
                <a:solidFill>
                  <a:srgbClr val="000000"/>
                </a:solidFill>
                <a:effectLst/>
              </a:rPr>
              <a:t>, agregarla primero al sartén y sofreír por 1-2 minutos.</a:t>
            </a:r>
          </a:p>
          <a:p>
            <a:pPr marL="457200" lvl="1" algn="l"/>
            <a:r>
              <a:rPr lang="es-ES" b="1" i="0" dirty="0">
                <a:solidFill>
                  <a:srgbClr val="000000"/>
                </a:solidFill>
                <a:effectLst/>
              </a:rPr>
              <a:t>Sino</a:t>
            </a:r>
            <a:r>
              <a:rPr lang="es-ES" b="0" i="0" dirty="0">
                <a:solidFill>
                  <a:srgbClr val="000000"/>
                </a:solidFill>
                <a:effectLst/>
              </a:rPr>
              <a:t>, agregar pimentón picado y sofreír por 1 minuto.</a:t>
            </a:r>
          </a:p>
          <a:p>
            <a:pPr algn="l">
              <a:buFont typeface="+mj-lt"/>
              <a:buAutoNum type="arabicPeriod"/>
            </a:pPr>
            <a:r>
              <a:rPr lang="es-ES" b="0" i="0" dirty="0">
                <a:solidFill>
                  <a:srgbClr val="000000"/>
                </a:solidFill>
                <a:effectLst/>
              </a:rPr>
              <a:t>Agregar el tomate al sartén y saltear por 2-3 minutos.</a:t>
            </a:r>
          </a:p>
          <a:p>
            <a:pPr algn="l">
              <a:buFont typeface="+mj-lt"/>
              <a:buAutoNum type="arabicPeriod"/>
            </a:pPr>
            <a:r>
              <a:rPr lang="es-ES" b="0" i="0" dirty="0">
                <a:solidFill>
                  <a:srgbClr val="000000"/>
                </a:solidFill>
                <a:effectLst/>
              </a:rPr>
              <a:t>Verter los huevos batidos en el sartén.</a:t>
            </a:r>
          </a:p>
          <a:p>
            <a:pPr algn="l">
              <a:buFont typeface="+mj-lt"/>
              <a:buAutoNum type="arabicPeriod"/>
            </a:pPr>
            <a:r>
              <a:rPr lang="es-ES" b="0" i="0" dirty="0">
                <a:solidFill>
                  <a:srgbClr val="000000"/>
                </a:solidFill>
                <a:effectLst/>
              </a:rPr>
              <a:t>Revolver constantemente hasta que los huevos estén cocidos.</a:t>
            </a:r>
          </a:p>
          <a:p>
            <a:pPr algn="l">
              <a:buFont typeface="+mj-lt"/>
              <a:buAutoNum type="arabicPeriod"/>
            </a:pPr>
            <a:r>
              <a:rPr lang="es-ES" b="0" i="0" dirty="0">
                <a:solidFill>
                  <a:srgbClr val="000000"/>
                </a:solidFill>
                <a:effectLst/>
              </a:rPr>
              <a:t>Retirar del fuego y servir caliente.</a:t>
            </a:r>
          </a:p>
          <a:p>
            <a:pPr algn="l">
              <a:buFont typeface="+mj-lt"/>
              <a:buAutoNum type="arabicPeriod"/>
            </a:pPr>
            <a:endParaRPr lang="es-ES" b="0" i="0" dirty="0">
              <a:solidFill>
                <a:srgbClr val="000000"/>
              </a:solidFill>
              <a:effectLst/>
            </a:endParaRPr>
          </a:p>
          <a:p>
            <a:pPr algn="l">
              <a:buFont typeface="+mj-lt"/>
              <a:buAutoNum type="arabicPeriod"/>
            </a:pPr>
            <a:endParaRPr lang="es-ES" b="0" i="0" dirty="0">
              <a:solidFill>
                <a:srgbClr val="000000"/>
              </a:solidFill>
              <a:effectLst/>
            </a:endParaRPr>
          </a:p>
          <a:p>
            <a:pPr algn="l"/>
            <a:r>
              <a:rPr lang="es-ES" b="1" i="0" dirty="0">
                <a:solidFill>
                  <a:srgbClr val="000000"/>
                </a:solidFill>
                <a:effectLst/>
              </a:rPr>
              <a:t>Salida:</a:t>
            </a:r>
            <a:endParaRPr lang="es-ES" b="0" i="0" dirty="0">
              <a:solidFill>
                <a:srgbClr val="000000"/>
              </a:solidFill>
              <a:effectLst/>
            </a:endParaRPr>
          </a:p>
          <a:p>
            <a:pPr algn="l">
              <a:buFont typeface="Arial" panose="020B0604020202020204" pitchFamily="34" charset="0"/>
              <a:buChar char="•"/>
            </a:pPr>
            <a:r>
              <a:rPr lang="es-ES" b="0" i="0" dirty="0">
                <a:solidFill>
                  <a:srgbClr val="000000"/>
                </a:solidFill>
                <a:effectLst/>
              </a:rPr>
              <a:t>Un plato de huevos revueltos con vegetales, listo para comer.</a:t>
            </a:r>
          </a:p>
        </p:txBody>
      </p:sp>
    </p:spTree>
    <p:extLst>
      <p:ext uri="{BB962C8B-B14F-4D97-AF65-F5344CB8AC3E}">
        <p14:creationId xmlns:p14="http://schemas.microsoft.com/office/powerpoint/2010/main" val="3132440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D5A6022-F569-860B-F0B7-C1D8539A923D}"/>
              </a:ext>
            </a:extLst>
          </p:cNvPr>
          <p:cNvSpPr>
            <a:spLocks noGrp="1"/>
          </p:cNvSpPr>
          <p:nvPr>
            <p:ph type="sldNum" sz="quarter" idx="12"/>
          </p:nvPr>
        </p:nvSpPr>
        <p:spPr/>
        <p:txBody>
          <a:bodyPr/>
          <a:lstStyle/>
          <a:p>
            <a:fld id="{8BFEBA87-C0CD-434A-9521-31AFCAE6F9CF}" type="slidenum">
              <a:rPr lang="es-CO" smtClean="0"/>
              <a:t>4</a:t>
            </a:fld>
            <a:endParaRPr lang="es-CO"/>
          </a:p>
        </p:txBody>
      </p:sp>
      <p:sp>
        <p:nvSpPr>
          <p:cNvPr id="3" name="CuadroTexto 2">
            <a:extLst>
              <a:ext uri="{FF2B5EF4-FFF2-40B4-BE49-F238E27FC236}">
                <a16:creationId xmlns:a16="http://schemas.microsoft.com/office/drawing/2014/main" id="{D0FC92EA-60A5-49B0-8B08-711117AC7057}"/>
              </a:ext>
            </a:extLst>
          </p:cNvPr>
          <p:cNvSpPr txBox="1"/>
          <p:nvPr/>
        </p:nvSpPr>
        <p:spPr>
          <a:xfrm>
            <a:off x="3373514" y="683581"/>
            <a:ext cx="6114870" cy="584775"/>
          </a:xfrm>
          <a:prstGeom prst="rect">
            <a:avLst/>
          </a:prstGeom>
          <a:noFill/>
        </p:spPr>
        <p:txBody>
          <a:bodyPr wrap="square" rtlCol="0">
            <a:spAutoFit/>
          </a:bodyPr>
          <a:lstStyle/>
          <a:p>
            <a:r>
              <a:rPr lang="es-ES" sz="3200" b="1" dirty="0"/>
              <a:t>PENSAMIENTO ESTRUCTURADO</a:t>
            </a:r>
            <a:endParaRPr lang="es-CO" sz="3200" b="1" dirty="0"/>
          </a:p>
        </p:txBody>
      </p:sp>
      <p:sp>
        <p:nvSpPr>
          <p:cNvPr id="4" name="CuadroTexto 3">
            <a:extLst>
              <a:ext uri="{FF2B5EF4-FFF2-40B4-BE49-F238E27FC236}">
                <a16:creationId xmlns:a16="http://schemas.microsoft.com/office/drawing/2014/main" id="{1F1D8B40-C601-4576-9D04-3368D90699A4}"/>
              </a:ext>
            </a:extLst>
          </p:cNvPr>
          <p:cNvSpPr txBox="1"/>
          <p:nvPr/>
        </p:nvSpPr>
        <p:spPr>
          <a:xfrm>
            <a:off x="3373514" y="1630170"/>
            <a:ext cx="7962636" cy="2862322"/>
          </a:xfrm>
          <a:prstGeom prst="rect">
            <a:avLst/>
          </a:prstGeom>
          <a:noFill/>
        </p:spPr>
        <p:txBody>
          <a:bodyPr wrap="square">
            <a:spAutoFit/>
          </a:bodyPr>
          <a:lstStyle/>
          <a:p>
            <a:r>
              <a:rPr lang="es-ES" i="0" dirty="0">
                <a:solidFill>
                  <a:srgbClr val="000000"/>
                </a:solidFill>
                <a:effectLst/>
                <a:latin typeface="+mj-lt"/>
              </a:rPr>
              <a:t>El pensamiento lógico y estructurado es la habilidad fundamental para resolver problemas de forma metódica y eficaz, siendo la piedra angular de la programación y el análisis.</a:t>
            </a:r>
          </a:p>
          <a:p>
            <a:endParaRPr lang="es-ES" dirty="0">
              <a:solidFill>
                <a:srgbClr val="000000"/>
              </a:solidFill>
              <a:latin typeface="+mj-lt"/>
            </a:endParaRPr>
          </a:p>
          <a:p>
            <a:r>
              <a:rPr lang="es-ES" i="0" dirty="0">
                <a:solidFill>
                  <a:srgbClr val="000000"/>
                </a:solidFill>
                <a:effectLst/>
                <a:latin typeface="+mj-lt"/>
              </a:rPr>
              <a:t> </a:t>
            </a:r>
            <a:r>
              <a:rPr lang="es-ES" dirty="0"/>
              <a:t>El pensamiento estructurado permite descomponer un problema complejo en partes organizadas y manejables. </a:t>
            </a:r>
          </a:p>
          <a:p>
            <a:endParaRPr lang="es-ES" dirty="0"/>
          </a:p>
          <a:p>
            <a:r>
              <a:rPr lang="es-ES" dirty="0"/>
              <a:t>El pensamiento lógico conecta esas partes de forma coherente y causal. Juntas, estas habilidades convierten una idea abstracta en un algoritmo preciso y ejecutable por una computadora.</a:t>
            </a:r>
            <a:endParaRPr lang="es-CO" dirty="0">
              <a:latin typeface="+mj-lt"/>
            </a:endParaRPr>
          </a:p>
        </p:txBody>
      </p:sp>
    </p:spTree>
    <p:extLst>
      <p:ext uri="{BB962C8B-B14F-4D97-AF65-F5344CB8AC3E}">
        <p14:creationId xmlns:p14="http://schemas.microsoft.com/office/powerpoint/2010/main" val="1614130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1BD08-36B0-5A23-5D67-22D481C318CE}"/>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FD13D01-D076-E950-3B58-B6A8E044801A}"/>
              </a:ext>
            </a:extLst>
          </p:cNvPr>
          <p:cNvSpPr>
            <a:spLocks noGrp="1"/>
          </p:cNvSpPr>
          <p:nvPr>
            <p:ph type="sldNum" sz="quarter" idx="12"/>
          </p:nvPr>
        </p:nvSpPr>
        <p:spPr/>
        <p:txBody>
          <a:bodyPr/>
          <a:lstStyle/>
          <a:p>
            <a:fld id="{8BFEBA87-C0CD-434A-9521-31AFCAE6F9CF}" type="slidenum">
              <a:rPr lang="es-CO" smtClean="0"/>
              <a:t>5</a:t>
            </a:fld>
            <a:endParaRPr lang="es-CO"/>
          </a:p>
        </p:txBody>
      </p:sp>
      <p:pic>
        <p:nvPicPr>
          <p:cNvPr id="4" name="Imagen 3" descr="Dibujo animado de un personaje con la boca abierta&#10;&#10;El contenido generado por IA puede ser incorrecto.">
            <a:extLst>
              <a:ext uri="{FF2B5EF4-FFF2-40B4-BE49-F238E27FC236}">
                <a16:creationId xmlns:a16="http://schemas.microsoft.com/office/drawing/2014/main" id="{2BC45E0C-A00F-4983-A022-99D33576B6F3}"/>
              </a:ext>
            </a:extLst>
          </p:cNvPr>
          <p:cNvPicPr>
            <a:picLocks noChangeAspect="1"/>
          </p:cNvPicPr>
          <p:nvPr/>
        </p:nvPicPr>
        <p:blipFill>
          <a:blip r:embed="rId2"/>
          <a:stretch>
            <a:fillRect/>
          </a:stretch>
        </p:blipFill>
        <p:spPr>
          <a:xfrm>
            <a:off x="396099" y="2108179"/>
            <a:ext cx="2039606" cy="3382374"/>
          </a:xfrm>
          <a:prstGeom prst="rect">
            <a:avLst/>
          </a:prstGeom>
        </p:spPr>
      </p:pic>
      <p:sp>
        <p:nvSpPr>
          <p:cNvPr id="5" name="CuadroTexto 4">
            <a:extLst>
              <a:ext uri="{FF2B5EF4-FFF2-40B4-BE49-F238E27FC236}">
                <a16:creationId xmlns:a16="http://schemas.microsoft.com/office/drawing/2014/main" id="{218CF1D9-4F1B-4A9A-B73A-1AC550D95AE1}"/>
              </a:ext>
            </a:extLst>
          </p:cNvPr>
          <p:cNvSpPr txBox="1"/>
          <p:nvPr/>
        </p:nvSpPr>
        <p:spPr>
          <a:xfrm>
            <a:off x="3009097" y="391805"/>
            <a:ext cx="8467079" cy="5632311"/>
          </a:xfrm>
          <a:prstGeom prst="rect">
            <a:avLst/>
          </a:prstGeom>
          <a:noFill/>
        </p:spPr>
        <p:txBody>
          <a:bodyPr wrap="square">
            <a:spAutoFit/>
          </a:bodyPr>
          <a:lstStyle/>
          <a:p>
            <a:pPr algn="ctr"/>
            <a:r>
              <a:rPr lang="es-ES" sz="2400" b="1" i="0" dirty="0">
                <a:solidFill>
                  <a:schemeClr val="accent6">
                    <a:lumMod val="50000"/>
                  </a:schemeClr>
                </a:solidFill>
                <a:effectLst/>
                <a:latin typeface="Arial" panose="020B0604020202020204" pitchFamily="34" charset="0"/>
              </a:rPr>
              <a:t>Análisis del problema</a:t>
            </a:r>
          </a:p>
          <a:p>
            <a:pPr algn="ctr"/>
            <a:endParaRPr lang="es-ES" b="1" dirty="0">
              <a:solidFill>
                <a:srgbClr val="000000"/>
              </a:solidFill>
              <a:latin typeface="Arial" panose="020B0604020202020204" pitchFamily="34" charset="0"/>
            </a:endParaRPr>
          </a:p>
          <a:p>
            <a:pPr algn="ctr"/>
            <a:endParaRPr lang="es-ES" sz="2200" b="1" i="0" dirty="0">
              <a:solidFill>
                <a:srgbClr val="000000"/>
              </a:solidFill>
              <a:effectLst/>
              <a:latin typeface="Arial" panose="020B0604020202020204" pitchFamily="34" charset="0"/>
            </a:endParaRPr>
          </a:p>
          <a:p>
            <a:pPr algn="l"/>
            <a:r>
              <a:rPr lang="es-ES" sz="2200" b="0" i="0" dirty="0">
                <a:solidFill>
                  <a:srgbClr val="4D4DE6"/>
                </a:solidFill>
                <a:effectLst/>
                <a:latin typeface="+mj-lt"/>
              </a:rPr>
              <a:t>¡No puedes construir una casa sin los planos!</a:t>
            </a:r>
          </a:p>
          <a:p>
            <a:pPr algn="l"/>
            <a:endParaRPr lang="es-ES" b="0" i="0" dirty="0">
              <a:solidFill>
                <a:srgbClr val="000000"/>
              </a:solidFill>
              <a:effectLst/>
              <a:latin typeface="+mj-lt"/>
            </a:endParaRPr>
          </a:p>
          <a:p>
            <a:pPr algn="l"/>
            <a:r>
              <a:rPr lang="es-ES" b="0" i="0" dirty="0">
                <a:solidFill>
                  <a:srgbClr val="000000"/>
                </a:solidFill>
                <a:effectLst/>
                <a:latin typeface="+mj-lt"/>
              </a:rPr>
              <a:t>El </a:t>
            </a:r>
            <a:r>
              <a:rPr lang="es-ES" b="1" i="0" dirty="0">
                <a:solidFill>
                  <a:srgbClr val="000000"/>
                </a:solidFill>
                <a:effectLst/>
                <a:latin typeface="+mj-lt"/>
              </a:rPr>
              <a:t>Análisis del Problema</a:t>
            </a:r>
            <a:r>
              <a:rPr lang="es-ES" b="0" i="0" dirty="0">
                <a:solidFill>
                  <a:srgbClr val="000000"/>
                </a:solidFill>
                <a:effectLst/>
                <a:latin typeface="+mj-lt"/>
              </a:rPr>
              <a:t> es el proceso de estudiar y entender a fondo un problema antes de escribir una sola línea de código. Su objetivo es definir claramente qué se debe hacer, no cómo hacerlo. Es la fase de "qué", no de "cómo".</a:t>
            </a:r>
          </a:p>
          <a:p>
            <a:pPr algn="l"/>
            <a:endParaRPr lang="es-ES" b="0" i="0" dirty="0">
              <a:solidFill>
                <a:srgbClr val="000000"/>
              </a:solidFill>
              <a:effectLst/>
              <a:latin typeface="+mj-lt"/>
            </a:endParaRPr>
          </a:p>
          <a:p>
            <a:pPr algn="l"/>
            <a:r>
              <a:rPr lang="es-ES" b="1" i="0" dirty="0">
                <a:solidFill>
                  <a:srgbClr val="000000"/>
                </a:solidFill>
                <a:effectLst/>
                <a:latin typeface="+mj-lt"/>
              </a:rPr>
              <a:t>1. </a:t>
            </a:r>
            <a:r>
              <a:rPr lang="es-ES" sz="2200" b="1" i="0" dirty="0">
                <a:solidFill>
                  <a:srgbClr val="000000"/>
                </a:solidFill>
                <a:effectLst/>
                <a:latin typeface="+mj-lt"/>
              </a:rPr>
              <a:t>Importancia:</a:t>
            </a:r>
            <a:endParaRPr lang="es-ES" sz="2200" b="0" i="0" dirty="0">
              <a:solidFill>
                <a:srgbClr val="000000"/>
              </a:solidFill>
              <a:effectLst/>
              <a:latin typeface="+mj-lt"/>
            </a:endParaRPr>
          </a:p>
          <a:p>
            <a:pPr algn="l">
              <a:buFont typeface="Arial" panose="020B0604020202020204" pitchFamily="34" charset="0"/>
              <a:buChar char="•"/>
            </a:pPr>
            <a:r>
              <a:rPr lang="es-ES" b="1" i="0" dirty="0">
                <a:solidFill>
                  <a:srgbClr val="000000"/>
                </a:solidFill>
                <a:effectLst/>
                <a:latin typeface="+mj-lt"/>
              </a:rPr>
              <a:t>Evita errores costosos:</a:t>
            </a:r>
            <a:r>
              <a:rPr lang="es-ES" b="0" i="0" dirty="0">
                <a:solidFill>
                  <a:srgbClr val="000000"/>
                </a:solidFill>
                <a:effectLst/>
                <a:latin typeface="+mj-lt"/>
              </a:rPr>
              <a:t> Un error detectado en el análisis cuesta mucho menos que uno detectado después de que el programa está hecho.</a:t>
            </a:r>
          </a:p>
          <a:p>
            <a:pPr algn="l">
              <a:buFont typeface="Arial" panose="020B0604020202020204" pitchFamily="34" charset="0"/>
              <a:buChar char="•"/>
            </a:pPr>
            <a:endParaRPr lang="es-ES" b="0" i="0" dirty="0">
              <a:solidFill>
                <a:srgbClr val="000000"/>
              </a:solidFill>
              <a:effectLst/>
              <a:latin typeface="+mj-lt"/>
            </a:endParaRPr>
          </a:p>
          <a:p>
            <a:pPr algn="l">
              <a:buFont typeface="Arial" panose="020B0604020202020204" pitchFamily="34" charset="0"/>
              <a:buChar char="•"/>
            </a:pPr>
            <a:r>
              <a:rPr lang="es-ES" b="1" i="0" dirty="0">
                <a:solidFill>
                  <a:srgbClr val="000000"/>
                </a:solidFill>
                <a:effectLst/>
                <a:latin typeface="+mj-lt"/>
              </a:rPr>
              <a:t>Garantiza la satisfacción:</a:t>
            </a:r>
            <a:r>
              <a:rPr lang="es-ES" b="0" i="0" dirty="0">
                <a:solidFill>
                  <a:srgbClr val="000000"/>
                </a:solidFill>
                <a:effectLst/>
                <a:latin typeface="+mj-lt"/>
              </a:rPr>
              <a:t> Asegura que la solución final cumpla con las expectativas reales.</a:t>
            </a:r>
          </a:p>
          <a:p>
            <a:pPr algn="l">
              <a:buFont typeface="Arial" panose="020B0604020202020204" pitchFamily="34" charset="0"/>
              <a:buChar char="•"/>
            </a:pPr>
            <a:endParaRPr lang="es-ES" b="0" i="0" dirty="0">
              <a:solidFill>
                <a:srgbClr val="000000"/>
              </a:solidFill>
              <a:effectLst/>
              <a:latin typeface="+mj-lt"/>
            </a:endParaRPr>
          </a:p>
          <a:p>
            <a:pPr algn="l">
              <a:buFont typeface="Arial" panose="020B0604020202020204" pitchFamily="34" charset="0"/>
              <a:buChar char="•"/>
            </a:pPr>
            <a:r>
              <a:rPr lang="es-ES" b="1" i="0" dirty="0">
                <a:solidFill>
                  <a:srgbClr val="000000"/>
                </a:solidFill>
                <a:effectLst/>
                <a:latin typeface="+mj-lt"/>
              </a:rPr>
              <a:t>Define los límites:</a:t>
            </a:r>
            <a:r>
              <a:rPr lang="es-ES" b="0" i="0" dirty="0">
                <a:solidFill>
                  <a:srgbClr val="000000"/>
                </a:solidFill>
                <a:effectLst/>
                <a:latin typeface="+mj-lt"/>
              </a:rPr>
              <a:t> Clarifica el alcance del problema, evitando que el programador haga más (o menos) de lo que se pide</a:t>
            </a:r>
          </a:p>
        </p:txBody>
      </p:sp>
    </p:spTree>
    <p:extLst>
      <p:ext uri="{BB962C8B-B14F-4D97-AF65-F5344CB8AC3E}">
        <p14:creationId xmlns:p14="http://schemas.microsoft.com/office/powerpoint/2010/main" val="4255941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arcador de número de diapositiva 17">
            <a:extLst>
              <a:ext uri="{FF2B5EF4-FFF2-40B4-BE49-F238E27FC236}">
                <a16:creationId xmlns:a16="http://schemas.microsoft.com/office/drawing/2014/main" id="{CCC65D3E-5AB1-7517-FF6C-EE1C82FB189D}"/>
              </a:ext>
            </a:extLst>
          </p:cNvPr>
          <p:cNvSpPr>
            <a:spLocks noGrp="1"/>
          </p:cNvSpPr>
          <p:nvPr>
            <p:ph type="sldNum" sz="quarter" idx="12"/>
          </p:nvPr>
        </p:nvSpPr>
        <p:spPr/>
        <p:txBody>
          <a:bodyPr/>
          <a:lstStyle/>
          <a:p>
            <a:fld id="{8BFEBA87-C0CD-434A-9521-31AFCAE6F9CF}" type="slidenum">
              <a:rPr lang="es-CO" smtClean="0"/>
              <a:t>6</a:t>
            </a:fld>
            <a:endParaRPr lang="es-CO"/>
          </a:p>
        </p:txBody>
      </p:sp>
      <p:pic>
        <p:nvPicPr>
          <p:cNvPr id="4" name="Imagen 3" descr="Una caricatura de una persona&#10;&#10;El contenido generado por IA puede ser incorrecto.">
            <a:extLst>
              <a:ext uri="{FF2B5EF4-FFF2-40B4-BE49-F238E27FC236}">
                <a16:creationId xmlns:a16="http://schemas.microsoft.com/office/drawing/2014/main" id="{AB01CA81-AB1A-EEEC-3DC6-4C2C8AE0B197}"/>
              </a:ext>
            </a:extLst>
          </p:cNvPr>
          <p:cNvPicPr>
            <a:picLocks noChangeAspect="1"/>
          </p:cNvPicPr>
          <p:nvPr/>
        </p:nvPicPr>
        <p:blipFill>
          <a:blip r:embed="rId3"/>
          <a:stretch>
            <a:fillRect/>
          </a:stretch>
        </p:blipFill>
        <p:spPr>
          <a:xfrm>
            <a:off x="9632462" y="2377629"/>
            <a:ext cx="2222160" cy="3239679"/>
          </a:xfrm>
          <a:prstGeom prst="rect">
            <a:avLst/>
          </a:prstGeom>
        </p:spPr>
      </p:pic>
      <p:sp>
        <p:nvSpPr>
          <p:cNvPr id="7" name="CuadroTexto 6">
            <a:extLst>
              <a:ext uri="{FF2B5EF4-FFF2-40B4-BE49-F238E27FC236}">
                <a16:creationId xmlns:a16="http://schemas.microsoft.com/office/drawing/2014/main" id="{238C85CE-3174-448D-85E0-4EDF48F2D9B2}"/>
              </a:ext>
            </a:extLst>
          </p:cNvPr>
          <p:cNvSpPr txBox="1"/>
          <p:nvPr/>
        </p:nvSpPr>
        <p:spPr>
          <a:xfrm>
            <a:off x="612559" y="437510"/>
            <a:ext cx="9170633" cy="5755422"/>
          </a:xfrm>
          <a:prstGeom prst="rect">
            <a:avLst/>
          </a:prstGeom>
          <a:noFill/>
        </p:spPr>
        <p:txBody>
          <a:bodyPr wrap="square">
            <a:spAutoFit/>
          </a:bodyPr>
          <a:lstStyle/>
          <a:p>
            <a:pPr algn="l"/>
            <a:r>
              <a:rPr lang="es-ES" b="1" i="0" dirty="0">
                <a:solidFill>
                  <a:srgbClr val="000000"/>
                </a:solidFill>
                <a:effectLst/>
                <a:latin typeface="+mj-lt"/>
              </a:rPr>
              <a:t>2.</a:t>
            </a:r>
            <a:r>
              <a:rPr lang="es-ES" sz="2200" b="1" i="0" dirty="0">
                <a:solidFill>
                  <a:srgbClr val="000000"/>
                </a:solidFill>
                <a:effectLst/>
                <a:latin typeface="+mj-lt"/>
              </a:rPr>
              <a:t> El Objetivo del Análisis: El Modelo E-P-S</a:t>
            </a:r>
          </a:p>
          <a:p>
            <a:pPr algn="l"/>
            <a:endParaRPr lang="es-ES" b="0" i="0" dirty="0">
              <a:solidFill>
                <a:srgbClr val="000000"/>
              </a:solidFill>
              <a:effectLst/>
              <a:latin typeface="+mj-lt"/>
            </a:endParaRPr>
          </a:p>
          <a:p>
            <a:pPr algn="l"/>
            <a:r>
              <a:rPr lang="es-ES" b="0" i="0" dirty="0">
                <a:solidFill>
                  <a:srgbClr val="000000"/>
                </a:solidFill>
                <a:effectLst/>
                <a:latin typeface="+mj-lt"/>
              </a:rPr>
              <a:t>El resultado principal del análisis del problema es la identificación clara de tres componentes clave, conocidos como el modelo </a:t>
            </a:r>
            <a:r>
              <a:rPr lang="es-ES" b="1" i="0" dirty="0">
                <a:solidFill>
                  <a:srgbClr val="000000"/>
                </a:solidFill>
                <a:effectLst/>
                <a:latin typeface="+mj-lt"/>
              </a:rPr>
              <a:t>E-P-S (Entrada - Proceso - Salida)</a:t>
            </a:r>
            <a:r>
              <a:rPr lang="es-ES" b="0" i="0" dirty="0">
                <a:solidFill>
                  <a:srgbClr val="000000"/>
                </a:solidFill>
                <a:effectLst/>
                <a:latin typeface="+mj-lt"/>
              </a:rPr>
              <a:t>.</a:t>
            </a:r>
          </a:p>
          <a:p>
            <a:pPr algn="l"/>
            <a:endParaRPr lang="es-ES" b="0" i="0" dirty="0">
              <a:solidFill>
                <a:srgbClr val="000000"/>
              </a:solidFill>
              <a:effectLst/>
              <a:latin typeface="+mj-lt"/>
            </a:endParaRPr>
          </a:p>
          <a:p>
            <a:pPr algn="l">
              <a:buFont typeface="Arial" panose="020B0604020202020204" pitchFamily="34" charset="0"/>
              <a:buChar char="•"/>
            </a:pPr>
            <a:r>
              <a:rPr lang="es-ES" b="1" i="0" dirty="0">
                <a:solidFill>
                  <a:schemeClr val="accent6">
                    <a:lumMod val="50000"/>
                  </a:schemeClr>
                </a:solidFill>
                <a:effectLst/>
                <a:latin typeface="+mj-lt"/>
              </a:rPr>
              <a:t>Entradas (Input):</a:t>
            </a:r>
            <a:r>
              <a:rPr lang="es-ES" b="0" i="0" dirty="0">
                <a:solidFill>
                  <a:schemeClr val="accent6">
                    <a:lumMod val="50000"/>
                  </a:schemeClr>
                </a:solidFill>
                <a:effectLst/>
                <a:latin typeface="+mj-lt"/>
              </a:rPr>
              <a:t> </a:t>
            </a:r>
            <a:r>
              <a:rPr lang="es-ES" b="0" i="0" dirty="0">
                <a:solidFill>
                  <a:srgbClr val="000000"/>
                </a:solidFill>
                <a:effectLst/>
                <a:latin typeface="+mj-lt"/>
              </a:rPr>
              <a:t>¿Qué datos necesito para resolver el problema? Son los insumos, la materia prima de nuestro algoritmo.</a:t>
            </a:r>
          </a:p>
          <a:p>
            <a:pPr algn="l">
              <a:buFont typeface="Arial" panose="020B0604020202020204" pitchFamily="34" charset="0"/>
              <a:buChar char="•"/>
            </a:pPr>
            <a:endParaRPr lang="es-ES" b="0" i="0" dirty="0">
              <a:solidFill>
                <a:srgbClr val="000000"/>
              </a:solidFill>
              <a:effectLst/>
              <a:latin typeface="+mj-lt"/>
            </a:endParaRPr>
          </a:p>
          <a:p>
            <a:pPr algn="l">
              <a:buFont typeface="Arial" panose="020B0604020202020204" pitchFamily="34" charset="0"/>
              <a:buChar char="•"/>
            </a:pPr>
            <a:r>
              <a:rPr lang="es-ES" b="1" i="0" dirty="0">
                <a:solidFill>
                  <a:schemeClr val="accent6">
                    <a:lumMod val="50000"/>
                  </a:schemeClr>
                </a:solidFill>
                <a:effectLst/>
                <a:latin typeface="+mj-lt"/>
              </a:rPr>
              <a:t>Proceso (</a:t>
            </a:r>
            <a:r>
              <a:rPr lang="es-ES" b="1" i="0" dirty="0" err="1">
                <a:solidFill>
                  <a:schemeClr val="accent6">
                    <a:lumMod val="50000"/>
                  </a:schemeClr>
                </a:solidFill>
                <a:effectLst/>
                <a:latin typeface="+mj-lt"/>
              </a:rPr>
              <a:t>Process</a:t>
            </a:r>
            <a:r>
              <a:rPr lang="es-ES" b="1" i="0" dirty="0">
                <a:solidFill>
                  <a:schemeClr val="accent6">
                    <a:lumMod val="50000"/>
                  </a:schemeClr>
                </a:solidFill>
                <a:effectLst/>
                <a:latin typeface="+mj-lt"/>
              </a:rPr>
              <a:t>):</a:t>
            </a:r>
            <a:r>
              <a:rPr lang="es-ES" b="0" i="0" dirty="0">
                <a:solidFill>
                  <a:schemeClr val="accent6">
                    <a:lumMod val="50000"/>
                  </a:schemeClr>
                </a:solidFill>
                <a:effectLst/>
                <a:latin typeface="+mj-lt"/>
              </a:rPr>
              <a:t> </a:t>
            </a:r>
            <a:r>
              <a:rPr lang="es-ES" b="0" i="0" dirty="0">
                <a:solidFill>
                  <a:srgbClr val="000000"/>
                </a:solidFill>
                <a:effectLst/>
                <a:latin typeface="+mj-lt"/>
              </a:rPr>
              <a:t>¿Qué operaciones, cálculos o transformaciones debo aplicar a los datos de entrada para obtener la salida deseada? Aquí se definen las reglas o las fórmulas a usar.</a:t>
            </a:r>
          </a:p>
          <a:p>
            <a:pPr algn="l">
              <a:buFont typeface="Arial" panose="020B0604020202020204" pitchFamily="34" charset="0"/>
              <a:buChar char="•"/>
            </a:pPr>
            <a:endParaRPr lang="es-ES" b="0" i="0" dirty="0">
              <a:solidFill>
                <a:srgbClr val="000000"/>
              </a:solidFill>
              <a:effectLst/>
              <a:latin typeface="+mj-lt"/>
            </a:endParaRPr>
          </a:p>
          <a:p>
            <a:pPr algn="l">
              <a:buFont typeface="Arial" panose="020B0604020202020204" pitchFamily="34" charset="0"/>
              <a:buChar char="•"/>
            </a:pPr>
            <a:r>
              <a:rPr lang="es-ES" b="1" i="0" dirty="0">
                <a:solidFill>
                  <a:schemeClr val="accent6">
                    <a:lumMod val="50000"/>
                  </a:schemeClr>
                </a:solidFill>
                <a:effectLst/>
                <a:latin typeface="+mj-lt"/>
              </a:rPr>
              <a:t>Salidas (Output):</a:t>
            </a:r>
            <a:r>
              <a:rPr lang="es-ES" b="0" i="0" dirty="0">
                <a:solidFill>
                  <a:schemeClr val="accent6">
                    <a:lumMod val="50000"/>
                  </a:schemeClr>
                </a:solidFill>
                <a:effectLst/>
                <a:latin typeface="+mj-lt"/>
              </a:rPr>
              <a:t> </a:t>
            </a:r>
            <a:r>
              <a:rPr lang="es-ES" b="0" i="0" dirty="0">
                <a:solidFill>
                  <a:srgbClr val="000000"/>
                </a:solidFill>
                <a:effectLst/>
                <a:latin typeface="+mj-lt"/>
              </a:rPr>
              <a:t>¿Cuál es el resultado esperado? ¿Qué información debo mostrar al usuario al final?</a:t>
            </a:r>
          </a:p>
          <a:p>
            <a:pPr algn="l">
              <a:buFont typeface="Arial" panose="020B0604020202020204" pitchFamily="34" charset="0"/>
              <a:buChar char="•"/>
            </a:pPr>
            <a:endParaRPr lang="es-ES" b="0" i="0" dirty="0">
              <a:solidFill>
                <a:srgbClr val="000000"/>
              </a:solidFill>
              <a:effectLst/>
              <a:latin typeface="+mj-lt"/>
            </a:endParaRPr>
          </a:p>
          <a:p>
            <a:pPr algn="l"/>
            <a:r>
              <a:rPr lang="es-ES" b="1" i="0" dirty="0">
                <a:solidFill>
                  <a:srgbClr val="000000"/>
                </a:solidFill>
                <a:effectLst/>
                <a:latin typeface="+mj-lt"/>
              </a:rPr>
              <a:t>3. </a:t>
            </a:r>
            <a:r>
              <a:rPr lang="es-ES" sz="2200" b="1" i="0" dirty="0">
                <a:solidFill>
                  <a:srgbClr val="000000"/>
                </a:solidFill>
                <a:effectLst/>
                <a:latin typeface="+mj-lt"/>
              </a:rPr>
              <a:t>Metodología: Las Preguntas Clave para Analizar un Problema</a:t>
            </a:r>
          </a:p>
          <a:p>
            <a:pPr algn="l"/>
            <a:endParaRPr lang="es-ES" b="0" i="0" dirty="0">
              <a:solidFill>
                <a:srgbClr val="000000"/>
              </a:solidFill>
              <a:effectLst/>
              <a:latin typeface="+mj-lt"/>
            </a:endParaRPr>
          </a:p>
          <a:p>
            <a:pPr algn="l"/>
            <a:r>
              <a:rPr lang="es-ES" b="1" i="0" dirty="0">
                <a:solidFill>
                  <a:srgbClr val="000000"/>
                </a:solidFill>
                <a:effectLst/>
                <a:latin typeface="+mj-lt"/>
              </a:rPr>
              <a:t>A. Para Comprender el Problema General:</a:t>
            </a:r>
            <a:endParaRPr lang="es-ES" b="0" i="0" dirty="0">
              <a:solidFill>
                <a:srgbClr val="000000"/>
              </a:solidFill>
              <a:effectLst/>
              <a:latin typeface="+mj-lt"/>
            </a:endParaRPr>
          </a:p>
          <a:p>
            <a:pPr algn="l">
              <a:buFont typeface="Arial" panose="020B0604020202020204" pitchFamily="34" charset="0"/>
              <a:buChar char="•"/>
            </a:pPr>
            <a:r>
              <a:rPr lang="es-ES" b="0" i="0" dirty="0">
                <a:solidFill>
                  <a:srgbClr val="000000"/>
                </a:solidFill>
                <a:effectLst/>
                <a:latin typeface="+mj-lt"/>
              </a:rPr>
              <a:t>¿Qué se me pide hacer exactamente? (Repetirlo con mis propias palabras).</a:t>
            </a:r>
          </a:p>
          <a:p>
            <a:pPr algn="l">
              <a:buFont typeface="Arial" panose="020B0604020202020204" pitchFamily="34" charset="0"/>
              <a:buChar char="•"/>
            </a:pPr>
            <a:r>
              <a:rPr lang="es-ES" b="0" i="0" dirty="0">
                <a:solidFill>
                  <a:srgbClr val="000000"/>
                </a:solidFill>
                <a:effectLst/>
                <a:latin typeface="+mj-lt"/>
              </a:rPr>
              <a:t>¿Cuál es el objetivo principal? ¿Qué resultado final se espera de la solución?</a:t>
            </a:r>
          </a:p>
        </p:txBody>
      </p:sp>
    </p:spTree>
    <p:extLst>
      <p:ext uri="{BB962C8B-B14F-4D97-AF65-F5344CB8AC3E}">
        <p14:creationId xmlns:p14="http://schemas.microsoft.com/office/powerpoint/2010/main" val="4233818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7</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12" name="CuadroTexto 11">
            <a:extLst>
              <a:ext uri="{FF2B5EF4-FFF2-40B4-BE49-F238E27FC236}">
                <a16:creationId xmlns:a16="http://schemas.microsoft.com/office/drawing/2014/main" id="{1A307FE1-BCD3-4E0C-AE83-F3CD243E1D9D}"/>
              </a:ext>
            </a:extLst>
          </p:cNvPr>
          <p:cNvSpPr txBox="1"/>
          <p:nvPr/>
        </p:nvSpPr>
        <p:spPr>
          <a:xfrm>
            <a:off x="1230768" y="701919"/>
            <a:ext cx="8380521" cy="4524315"/>
          </a:xfrm>
          <a:prstGeom prst="rect">
            <a:avLst/>
          </a:prstGeom>
          <a:noFill/>
        </p:spPr>
        <p:txBody>
          <a:bodyPr wrap="square">
            <a:spAutoFit/>
          </a:bodyPr>
          <a:lstStyle/>
          <a:p>
            <a:pPr algn="l"/>
            <a:r>
              <a:rPr lang="es-ES" b="1" i="0" dirty="0">
                <a:solidFill>
                  <a:srgbClr val="000000"/>
                </a:solidFill>
                <a:effectLst/>
                <a:latin typeface="+mj-lt"/>
              </a:rPr>
              <a:t>B. Para Identificar las Entradas:</a:t>
            </a:r>
          </a:p>
          <a:p>
            <a:pPr algn="l"/>
            <a:endParaRPr lang="es-ES" b="0" i="0" dirty="0">
              <a:solidFill>
                <a:srgbClr val="000000"/>
              </a:solidFill>
              <a:effectLst/>
              <a:latin typeface="+mj-lt"/>
            </a:endParaRPr>
          </a:p>
          <a:p>
            <a:pPr algn="l">
              <a:buFont typeface="Arial" panose="020B0604020202020204" pitchFamily="34" charset="0"/>
              <a:buChar char="•"/>
            </a:pPr>
            <a:r>
              <a:rPr lang="es-ES" b="0" i="0" dirty="0">
                <a:solidFill>
                  <a:srgbClr val="000000"/>
                </a:solidFill>
                <a:effectLst/>
                <a:latin typeface="+mj-lt"/>
              </a:rPr>
              <a:t>¿Con qué información cuento para empezar?</a:t>
            </a:r>
          </a:p>
          <a:p>
            <a:pPr algn="l">
              <a:buFont typeface="Arial" panose="020B0604020202020204" pitchFamily="34" charset="0"/>
              <a:buChar char="•"/>
            </a:pPr>
            <a:r>
              <a:rPr lang="es-ES" b="0" i="0" dirty="0">
                <a:solidFill>
                  <a:srgbClr val="000000"/>
                </a:solidFill>
                <a:effectLst/>
                <a:latin typeface="+mj-lt"/>
              </a:rPr>
              <a:t>¿Qué datos son variables y necesito solicitarlos al usuario?</a:t>
            </a:r>
          </a:p>
          <a:p>
            <a:pPr algn="l">
              <a:buFont typeface="Arial" panose="020B0604020202020204" pitchFamily="34" charset="0"/>
              <a:buChar char="•"/>
            </a:pPr>
            <a:endParaRPr lang="es-ES" b="0" i="0" dirty="0">
              <a:solidFill>
                <a:srgbClr val="000000"/>
              </a:solidFill>
              <a:effectLst/>
              <a:latin typeface="+mj-lt"/>
            </a:endParaRPr>
          </a:p>
          <a:p>
            <a:pPr algn="l"/>
            <a:r>
              <a:rPr lang="es-ES" b="1" i="0" dirty="0">
                <a:solidFill>
                  <a:srgbClr val="000000"/>
                </a:solidFill>
                <a:effectLst/>
                <a:latin typeface="+mj-lt"/>
              </a:rPr>
              <a:t>C. Para Identificar las Salidas:</a:t>
            </a:r>
            <a:endParaRPr lang="es-ES" b="0" i="0" dirty="0">
              <a:solidFill>
                <a:srgbClr val="000000"/>
              </a:solidFill>
              <a:effectLst/>
              <a:latin typeface="+mj-lt"/>
            </a:endParaRPr>
          </a:p>
          <a:p>
            <a:pPr algn="l">
              <a:buFont typeface="Arial" panose="020B0604020202020204" pitchFamily="34" charset="0"/>
              <a:buChar char="•"/>
            </a:pPr>
            <a:r>
              <a:rPr lang="es-ES" b="0" i="0" dirty="0">
                <a:solidFill>
                  <a:srgbClr val="000000"/>
                </a:solidFill>
                <a:effectLst/>
                <a:latin typeface="+mj-lt"/>
              </a:rPr>
              <a:t>¿Qué información debo mostrar como resultado?</a:t>
            </a:r>
          </a:p>
          <a:p>
            <a:pPr algn="l">
              <a:buFont typeface="Arial" panose="020B0604020202020204" pitchFamily="34" charset="0"/>
              <a:buChar char="•"/>
            </a:pPr>
            <a:r>
              <a:rPr lang="es-ES" b="0" i="0" dirty="0">
                <a:solidFill>
                  <a:srgbClr val="000000"/>
                </a:solidFill>
                <a:effectLst/>
                <a:latin typeface="+mj-lt"/>
              </a:rPr>
              <a:t>¿El resultado es un número, un mensaje, una tabla, etc.?</a:t>
            </a:r>
          </a:p>
          <a:p>
            <a:pPr algn="l">
              <a:buFont typeface="Arial" panose="020B0604020202020204" pitchFamily="34" charset="0"/>
              <a:buChar char="•"/>
            </a:pPr>
            <a:endParaRPr lang="es-ES" b="0" i="0" dirty="0">
              <a:solidFill>
                <a:srgbClr val="000000"/>
              </a:solidFill>
              <a:effectLst/>
              <a:latin typeface="+mj-lt"/>
            </a:endParaRPr>
          </a:p>
          <a:p>
            <a:pPr algn="l"/>
            <a:r>
              <a:rPr lang="es-ES" b="1" i="0" dirty="0">
                <a:solidFill>
                  <a:srgbClr val="000000"/>
                </a:solidFill>
                <a:effectLst/>
                <a:latin typeface="+mj-lt"/>
              </a:rPr>
              <a:t>D. Para Identificar el Proceso y las Reglas:</a:t>
            </a:r>
          </a:p>
          <a:p>
            <a:pPr algn="l"/>
            <a:endParaRPr lang="es-ES" b="0" i="0" dirty="0">
              <a:solidFill>
                <a:srgbClr val="000000"/>
              </a:solidFill>
              <a:effectLst/>
              <a:latin typeface="+mj-lt"/>
            </a:endParaRPr>
          </a:p>
          <a:p>
            <a:pPr algn="l">
              <a:buFont typeface="Arial" panose="020B0604020202020204" pitchFamily="34" charset="0"/>
              <a:buChar char="•"/>
            </a:pPr>
            <a:r>
              <a:rPr lang="es-ES" b="0" i="0" dirty="0">
                <a:solidFill>
                  <a:srgbClr val="000000"/>
                </a:solidFill>
                <a:effectLst/>
                <a:latin typeface="+mj-lt"/>
              </a:rPr>
              <a:t>¿Existen fórmulas matemáticas que deba aplicar?</a:t>
            </a:r>
          </a:p>
          <a:p>
            <a:pPr algn="l">
              <a:buFont typeface="Arial" panose="020B0604020202020204" pitchFamily="34" charset="0"/>
              <a:buChar char="•"/>
            </a:pPr>
            <a:r>
              <a:rPr lang="es-ES" b="0" i="0" dirty="0">
                <a:solidFill>
                  <a:srgbClr val="000000"/>
                </a:solidFill>
                <a:effectLst/>
                <a:latin typeface="+mj-lt"/>
              </a:rPr>
              <a:t>¿Hay condiciones o reglas que cambien el resultado? (</a:t>
            </a:r>
            <a:r>
              <a:rPr lang="es-ES" b="0" i="0" dirty="0" err="1">
                <a:solidFill>
                  <a:srgbClr val="000000"/>
                </a:solidFill>
                <a:effectLst/>
                <a:latin typeface="+mj-lt"/>
              </a:rPr>
              <a:t>Ej</a:t>
            </a:r>
            <a:r>
              <a:rPr lang="es-ES" b="0" i="0" dirty="0">
                <a:solidFill>
                  <a:srgbClr val="000000"/>
                </a:solidFill>
                <a:effectLst/>
                <a:latin typeface="+mj-lt"/>
              </a:rPr>
              <a:t>: "Si es mayor de edad...", "Si la nota es mayor a 60...").</a:t>
            </a:r>
          </a:p>
          <a:p>
            <a:pPr algn="l">
              <a:buFont typeface="Arial" panose="020B0604020202020204" pitchFamily="34" charset="0"/>
              <a:buChar char="•"/>
            </a:pPr>
            <a:r>
              <a:rPr lang="es-ES" b="0" i="0" dirty="0">
                <a:solidFill>
                  <a:srgbClr val="000000"/>
                </a:solidFill>
                <a:effectLst/>
                <a:latin typeface="+mj-lt"/>
              </a:rPr>
              <a:t>¿Existen restricciones o limitaciones? (</a:t>
            </a:r>
            <a:r>
              <a:rPr lang="es-ES" b="0" i="0" dirty="0" err="1">
                <a:solidFill>
                  <a:srgbClr val="000000"/>
                </a:solidFill>
                <a:effectLst/>
                <a:latin typeface="+mj-lt"/>
              </a:rPr>
              <a:t>Ej</a:t>
            </a:r>
            <a:r>
              <a:rPr lang="es-ES" b="0" i="0" dirty="0">
                <a:solidFill>
                  <a:srgbClr val="000000"/>
                </a:solidFill>
                <a:effectLst/>
                <a:latin typeface="+mj-lt"/>
              </a:rPr>
              <a:t>: "El número debe ser positivo", "La contraseña debe tener 8 caracteres").</a:t>
            </a:r>
          </a:p>
        </p:txBody>
      </p:sp>
    </p:spTree>
    <p:extLst>
      <p:ext uri="{BB962C8B-B14F-4D97-AF65-F5344CB8AC3E}">
        <p14:creationId xmlns:p14="http://schemas.microsoft.com/office/powerpoint/2010/main" val="58636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arcador de número de diapositiva 17">
            <a:extLst>
              <a:ext uri="{FF2B5EF4-FFF2-40B4-BE49-F238E27FC236}">
                <a16:creationId xmlns:a16="http://schemas.microsoft.com/office/drawing/2014/main" id="{CCC65D3E-5AB1-7517-FF6C-EE1C82FB189D}"/>
              </a:ext>
            </a:extLst>
          </p:cNvPr>
          <p:cNvSpPr>
            <a:spLocks noGrp="1"/>
          </p:cNvSpPr>
          <p:nvPr>
            <p:ph type="sldNum" sz="quarter" idx="12"/>
          </p:nvPr>
        </p:nvSpPr>
        <p:spPr/>
        <p:txBody>
          <a:bodyPr/>
          <a:lstStyle/>
          <a:p>
            <a:fld id="{8BFEBA87-C0CD-434A-9521-31AFCAE6F9CF}" type="slidenum">
              <a:rPr lang="es-CO" smtClean="0"/>
              <a:t>8</a:t>
            </a:fld>
            <a:endParaRPr lang="es-CO"/>
          </a:p>
        </p:txBody>
      </p:sp>
      <p:pic>
        <p:nvPicPr>
          <p:cNvPr id="4" name="Imagen 3" descr="Una caricatura de una persona&#10;&#10;El contenido generado por IA puede ser incorrecto.">
            <a:extLst>
              <a:ext uri="{FF2B5EF4-FFF2-40B4-BE49-F238E27FC236}">
                <a16:creationId xmlns:a16="http://schemas.microsoft.com/office/drawing/2014/main" id="{AB01CA81-AB1A-EEEC-3DC6-4C2C8AE0B197}"/>
              </a:ext>
            </a:extLst>
          </p:cNvPr>
          <p:cNvPicPr>
            <a:picLocks noChangeAspect="1"/>
          </p:cNvPicPr>
          <p:nvPr/>
        </p:nvPicPr>
        <p:blipFill>
          <a:blip r:embed="rId3"/>
          <a:stretch>
            <a:fillRect/>
          </a:stretch>
        </p:blipFill>
        <p:spPr>
          <a:xfrm>
            <a:off x="9632462" y="2377629"/>
            <a:ext cx="2222160" cy="3239679"/>
          </a:xfrm>
          <a:prstGeom prst="rect">
            <a:avLst/>
          </a:prstGeom>
        </p:spPr>
      </p:pic>
      <p:sp>
        <p:nvSpPr>
          <p:cNvPr id="5" name="CuadroTexto 4">
            <a:extLst>
              <a:ext uri="{FF2B5EF4-FFF2-40B4-BE49-F238E27FC236}">
                <a16:creationId xmlns:a16="http://schemas.microsoft.com/office/drawing/2014/main" id="{10F33773-45D0-4FC0-A943-EC76185F80D3}"/>
              </a:ext>
            </a:extLst>
          </p:cNvPr>
          <p:cNvSpPr txBox="1"/>
          <p:nvPr/>
        </p:nvSpPr>
        <p:spPr>
          <a:xfrm>
            <a:off x="451262" y="199565"/>
            <a:ext cx="7847370" cy="5724644"/>
          </a:xfrm>
          <a:prstGeom prst="rect">
            <a:avLst/>
          </a:prstGeom>
          <a:noFill/>
        </p:spPr>
        <p:txBody>
          <a:bodyPr wrap="square">
            <a:spAutoFit/>
          </a:bodyPr>
          <a:lstStyle/>
          <a:p>
            <a:pPr algn="ctr"/>
            <a:r>
              <a:rPr lang="es-ES" sz="2400" b="1" i="0" dirty="0">
                <a:solidFill>
                  <a:schemeClr val="accent6">
                    <a:lumMod val="50000"/>
                  </a:schemeClr>
                </a:solidFill>
                <a:effectLst/>
                <a:latin typeface="+mj-lt"/>
              </a:rPr>
              <a:t>Ejemplo 1</a:t>
            </a:r>
          </a:p>
          <a:p>
            <a:pPr algn="l"/>
            <a:endParaRPr lang="es-ES" b="0" i="0" dirty="0">
              <a:solidFill>
                <a:srgbClr val="000000"/>
              </a:solidFill>
              <a:effectLst/>
              <a:latin typeface="+mj-lt"/>
            </a:endParaRPr>
          </a:p>
          <a:p>
            <a:pPr algn="l"/>
            <a:r>
              <a:rPr lang="es-ES" b="1" i="0" dirty="0">
                <a:solidFill>
                  <a:srgbClr val="000000"/>
                </a:solidFill>
                <a:effectLst/>
                <a:latin typeface="+mj-lt"/>
              </a:rPr>
              <a:t>Enunciado del Problema:</a:t>
            </a:r>
            <a:r>
              <a:rPr lang="es-ES" b="0" i="0" dirty="0">
                <a:solidFill>
                  <a:srgbClr val="000000"/>
                </a:solidFill>
                <a:effectLst/>
                <a:latin typeface="+mj-lt"/>
              </a:rPr>
              <a:t> "Se necesita un programa que calcule el promedio de tres calificaciones de un estudiante y determine si aprobó o reprobó el curso. El promedio para aprobar es de 60.“</a:t>
            </a:r>
          </a:p>
          <a:p>
            <a:pPr algn="l"/>
            <a:endParaRPr lang="es-ES" b="0" i="0" dirty="0">
              <a:solidFill>
                <a:srgbClr val="000000"/>
              </a:solidFill>
              <a:effectLst/>
              <a:latin typeface="+mj-lt"/>
            </a:endParaRPr>
          </a:p>
          <a:p>
            <a:pPr algn="l"/>
            <a:r>
              <a:rPr lang="es-ES" b="1" i="0" dirty="0">
                <a:solidFill>
                  <a:srgbClr val="000000"/>
                </a:solidFill>
                <a:effectLst/>
                <a:latin typeface="+mj-lt"/>
              </a:rPr>
              <a:t>Desarrollo del Análisis (Aplicando las preguntas):</a:t>
            </a:r>
            <a:endParaRPr lang="es-ES" b="0" i="0" dirty="0">
              <a:solidFill>
                <a:srgbClr val="000000"/>
              </a:solidFill>
              <a:effectLst/>
              <a:latin typeface="+mj-lt"/>
            </a:endParaRPr>
          </a:p>
          <a:p>
            <a:pPr algn="l">
              <a:buFont typeface="+mj-lt"/>
              <a:buAutoNum type="arabicPeriod"/>
            </a:pPr>
            <a:r>
              <a:rPr lang="es-ES" b="1" i="0" dirty="0">
                <a:solidFill>
                  <a:srgbClr val="000000"/>
                </a:solidFill>
                <a:effectLst/>
                <a:latin typeface="+mj-lt"/>
              </a:rPr>
              <a:t>¿Qué se me pide hacer?</a:t>
            </a:r>
            <a:endParaRPr lang="es-ES" b="0" i="0" dirty="0">
              <a:solidFill>
                <a:srgbClr val="000000"/>
              </a:solidFill>
              <a:effectLst/>
              <a:latin typeface="+mj-lt"/>
            </a:endParaRPr>
          </a:p>
          <a:p>
            <a:pPr marL="742950" lvl="1" indent="-285750" algn="l">
              <a:buFont typeface="+mj-lt"/>
              <a:buAutoNum type="arabicPeriod"/>
            </a:pPr>
            <a:r>
              <a:rPr lang="es-ES" b="0" i="0" dirty="0">
                <a:solidFill>
                  <a:srgbClr val="000000"/>
                </a:solidFill>
                <a:effectLst/>
                <a:latin typeface="+mj-lt"/>
              </a:rPr>
              <a:t>Calcular un promedio de 3 notas y luego decir si el estudiante aprobó o no.</a:t>
            </a:r>
          </a:p>
          <a:p>
            <a:pPr marL="742950" lvl="1" indent="-285750" algn="l">
              <a:buFont typeface="+mj-lt"/>
              <a:buAutoNum type="arabicPeriod"/>
            </a:pPr>
            <a:endParaRPr lang="es-ES" b="0" i="0" dirty="0">
              <a:solidFill>
                <a:srgbClr val="000000"/>
              </a:solidFill>
              <a:effectLst/>
              <a:latin typeface="+mj-lt"/>
            </a:endParaRPr>
          </a:p>
          <a:p>
            <a:pPr algn="l">
              <a:buFont typeface="+mj-lt"/>
              <a:buAutoNum type="arabicPeriod"/>
            </a:pPr>
            <a:r>
              <a:rPr lang="es-ES" b="1" i="0" dirty="0">
                <a:solidFill>
                  <a:srgbClr val="000000"/>
                </a:solidFill>
                <a:effectLst/>
                <a:latin typeface="+mj-lt"/>
              </a:rPr>
              <a:t>¿Cuáles son las Entradas?</a:t>
            </a:r>
            <a:endParaRPr lang="es-ES" b="0" i="0" dirty="0">
              <a:solidFill>
                <a:srgbClr val="000000"/>
              </a:solidFill>
              <a:effectLst/>
              <a:latin typeface="+mj-lt"/>
            </a:endParaRPr>
          </a:p>
          <a:p>
            <a:pPr marL="742950" lvl="1" indent="-285750" algn="l">
              <a:buFont typeface="+mj-lt"/>
              <a:buAutoNum type="arabicPeriod"/>
            </a:pPr>
            <a:r>
              <a:rPr lang="es-ES" b="0" i="0" dirty="0">
                <a:solidFill>
                  <a:srgbClr val="000000"/>
                </a:solidFill>
                <a:effectLst/>
                <a:latin typeface="+mj-lt"/>
              </a:rPr>
              <a:t>Necesito las tres calificaciones.</a:t>
            </a:r>
          </a:p>
          <a:p>
            <a:pPr marL="742950" lvl="1" indent="-285750" algn="l">
              <a:buFont typeface="+mj-lt"/>
              <a:buAutoNum type="arabicPeriod"/>
            </a:pPr>
            <a:r>
              <a:rPr lang="es-ES" b="0" i="0" dirty="0">
                <a:solidFill>
                  <a:srgbClr val="000000"/>
                </a:solidFill>
                <a:effectLst/>
                <a:latin typeface="+mj-lt"/>
              </a:rPr>
              <a:t>Les llamaré: calificacion1, calificacion2, calificacion3.</a:t>
            </a:r>
          </a:p>
          <a:p>
            <a:pPr marL="742950" lvl="1" indent="-285750" algn="l">
              <a:buFont typeface="+mj-lt"/>
              <a:buAutoNum type="arabicPeriod"/>
            </a:pPr>
            <a:r>
              <a:rPr lang="es-ES" b="0" i="0" dirty="0">
                <a:solidFill>
                  <a:srgbClr val="000000"/>
                </a:solidFill>
                <a:effectLst/>
                <a:latin typeface="+mj-lt"/>
              </a:rPr>
              <a:t>Son números reales (pueden tener decimales, </a:t>
            </a:r>
            <a:r>
              <a:rPr lang="es-ES" b="0" i="0" dirty="0" err="1">
                <a:solidFill>
                  <a:srgbClr val="000000"/>
                </a:solidFill>
                <a:effectLst/>
                <a:latin typeface="+mj-lt"/>
              </a:rPr>
              <a:t>ej</a:t>
            </a:r>
            <a:r>
              <a:rPr lang="es-ES" b="0" i="0" dirty="0">
                <a:solidFill>
                  <a:srgbClr val="000000"/>
                </a:solidFill>
                <a:effectLst/>
                <a:latin typeface="+mj-lt"/>
              </a:rPr>
              <a:t>: 45,2).</a:t>
            </a:r>
          </a:p>
          <a:p>
            <a:pPr marL="742950" lvl="1" indent="-285750" algn="l">
              <a:buFont typeface="+mj-lt"/>
              <a:buAutoNum type="arabicPeriod"/>
            </a:pPr>
            <a:endParaRPr lang="es-ES" b="0" i="0" dirty="0">
              <a:solidFill>
                <a:srgbClr val="000000"/>
              </a:solidFill>
              <a:effectLst/>
              <a:latin typeface="+mj-lt"/>
            </a:endParaRPr>
          </a:p>
          <a:p>
            <a:pPr algn="l">
              <a:buFont typeface="+mj-lt"/>
              <a:buAutoNum type="arabicPeriod"/>
            </a:pPr>
            <a:r>
              <a:rPr lang="es-ES" b="1" i="0" dirty="0">
                <a:solidFill>
                  <a:srgbClr val="000000"/>
                </a:solidFill>
                <a:effectLst/>
                <a:latin typeface="+mj-lt"/>
              </a:rPr>
              <a:t>¿Cuáles son las Salidas?</a:t>
            </a:r>
            <a:endParaRPr lang="es-ES" b="0" i="0" dirty="0">
              <a:solidFill>
                <a:srgbClr val="000000"/>
              </a:solidFill>
              <a:effectLst/>
              <a:latin typeface="+mj-lt"/>
            </a:endParaRPr>
          </a:p>
          <a:p>
            <a:pPr marL="742950" lvl="1" indent="-285750" algn="l">
              <a:buFont typeface="+mj-lt"/>
              <a:buAutoNum type="arabicPeriod"/>
            </a:pPr>
            <a:r>
              <a:rPr lang="es-ES" b="0" i="0" dirty="0">
                <a:solidFill>
                  <a:srgbClr val="000000"/>
                </a:solidFill>
                <a:effectLst/>
                <a:latin typeface="+mj-lt"/>
              </a:rPr>
              <a:t>Debo mostrar el promedio calculado. Le llamaré promedio.</a:t>
            </a:r>
          </a:p>
          <a:p>
            <a:pPr marL="742950" lvl="1" indent="-285750" algn="l">
              <a:buFont typeface="+mj-lt"/>
              <a:buAutoNum type="arabicPeriod"/>
            </a:pPr>
            <a:r>
              <a:rPr lang="es-ES" b="0" i="0" dirty="0">
                <a:solidFill>
                  <a:srgbClr val="000000"/>
                </a:solidFill>
                <a:effectLst/>
                <a:latin typeface="+mj-lt"/>
              </a:rPr>
              <a:t>Debo mostrar un mensaje con el estado final. Le llamaré estado ("Aprobado" o "Reprobado").</a:t>
            </a:r>
          </a:p>
        </p:txBody>
      </p:sp>
    </p:spTree>
    <p:extLst>
      <p:ext uri="{BB962C8B-B14F-4D97-AF65-F5344CB8AC3E}">
        <p14:creationId xmlns:p14="http://schemas.microsoft.com/office/powerpoint/2010/main" val="251635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9</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6" name="CuadroTexto 5">
            <a:extLst>
              <a:ext uri="{FF2B5EF4-FFF2-40B4-BE49-F238E27FC236}">
                <a16:creationId xmlns:a16="http://schemas.microsoft.com/office/drawing/2014/main" id="{F8CC8273-5FFC-49B2-B15A-48CEE2C41F72}"/>
              </a:ext>
            </a:extLst>
          </p:cNvPr>
          <p:cNvSpPr txBox="1"/>
          <p:nvPr/>
        </p:nvSpPr>
        <p:spPr>
          <a:xfrm>
            <a:off x="2350305" y="2526301"/>
            <a:ext cx="6094520" cy="1477328"/>
          </a:xfrm>
          <a:prstGeom prst="rect">
            <a:avLst/>
          </a:prstGeom>
          <a:noFill/>
        </p:spPr>
        <p:txBody>
          <a:bodyPr wrap="square">
            <a:spAutoFit/>
          </a:bodyPr>
          <a:lstStyle/>
          <a:p>
            <a:pPr algn="l">
              <a:buFont typeface="Arial" panose="020B0604020202020204" pitchFamily="34" charset="0"/>
              <a:buChar char="•"/>
            </a:pPr>
            <a:r>
              <a:rPr lang="es-ES" b="1" i="0" dirty="0">
                <a:solidFill>
                  <a:srgbClr val="000000"/>
                </a:solidFill>
                <a:effectLst/>
                <a:latin typeface="+mj-lt"/>
              </a:rPr>
              <a:t>Regla/Condición:</a:t>
            </a:r>
            <a:r>
              <a:rPr lang="es-ES" b="0" i="0" dirty="0">
                <a:solidFill>
                  <a:srgbClr val="000000"/>
                </a:solidFill>
                <a:effectLst/>
                <a:latin typeface="+mj-lt"/>
              </a:rPr>
              <a:t> SI promedio &gt;= 60 ENTONCES el estado es "Aprobado", DE_LO_CONTRARIO el estado es "Reprobado".</a:t>
            </a:r>
          </a:p>
          <a:p>
            <a:pPr algn="l">
              <a:buFont typeface="Arial" panose="020B0604020202020204" pitchFamily="34" charset="0"/>
              <a:buChar char="•"/>
            </a:pPr>
            <a:r>
              <a:rPr lang="es-ES" b="1" i="0" dirty="0">
                <a:solidFill>
                  <a:srgbClr val="000000"/>
                </a:solidFill>
                <a:effectLst/>
                <a:latin typeface="+mj-lt"/>
              </a:rPr>
              <a:t>Restricción (implícita):</a:t>
            </a:r>
            <a:r>
              <a:rPr lang="es-ES" b="0" i="0" dirty="0">
                <a:solidFill>
                  <a:srgbClr val="000000"/>
                </a:solidFill>
                <a:effectLst/>
                <a:latin typeface="+mj-lt"/>
              </a:rPr>
              <a:t> Las calificaciones probablemente deben estar entre 0.0 y 100.</a:t>
            </a:r>
          </a:p>
        </p:txBody>
      </p:sp>
      <p:sp>
        <p:nvSpPr>
          <p:cNvPr id="7" name="CuadroTexto 6">
            <a:extLst>
              <a:ext uri="{FF2B5EF4-FFF2-40B4-BE49-F238E27FC236}">
                <a16:creationId xmlns:a16="http://schemas.microsoft.com/office/drawing/2014/main" id="{BD4D5F1A-373A-4000-AFD2-3EF99B2346AD}"/>
              </a:ext>
            </a:extLst>
          </p:cNvPr>
          <p:cNvSpPr txBox="1"/>
          <p:nvPr/>
        </p:nvSpPr>
        <p:spPr>
          <a:xfrm>
            <a:off x="2350305" y="831074"/>
            <a:ext cx="6094520" cy="923330"/>
          </a:xfrm>
          <a:prstGeom prst="rect">
            <a:avLst/>
          </a:prstGeom>
          <a:noFill/>
        </p:spPr>
        <p:txBody>
          <a:bodyPr wrap="square">
            <a:spAutoFit/>
          </a:bodyPr>
          <a:lstStyle/>
          <a:p>
            <a:pPr algn="l"/>
            <a:r>
              <a:rPr lang="es-ES" b="1" i="0" dirty="0">
                <a:solidFill>
                  <a:srgbClr val="000000"/>
                </a:solidFill>
                <a:effectLst/>
                <a:latin typeface="+mj-lt"/>
              </a:rPr>
              <a:t>4.¿Cuál es el Proceso y las Reglas?</a:t>
            </a:r>
            <a:endParaRPr lang="es-ES" b="0" i="0" dirty="0">
              <a:solidFill>
                <a:srgbClr val="000000"/>
              </a:solidFill>
              <a:effectLst/>
              <a:latin typeface="+mj-lt"/>
            </a:endParaRPr>
          </a:p>
          <a:p>
            <a:pPr marL="742950" lvl="1" indent="-285750" algn="l">
              <a:buFont typeface="+mj-lt"/>
              <a:buAutoNum type="arabicPeriod"/>
            </a:pPr>
            <a:r>
              <a:rPr lang="es-ES" b="1" i="0" dirty="0">
                <a:solidFill>
                  <a:srgbClr val="000000"/>
                </a:solidFill>
                <a:effectLst/>
                <a:latin typeface="+mj-lt"/>
              </a:rPr>
              <a:t>Fórmula:</a:t>
            </a:r>
            <a:r>
              <a:rPr lang="es-ES" b="0" i="0" dirty="0">
                <a:solidFill>
                  <a:srgbClr val="000000"/>
                </a:solidFill>
                <a:effectLst/>
                <a:latin typeface="+mj-lt"/>
              </a:rPr>
              <a:t> promedio = (calificacion1 + calificacion2 + calificacion3) / 3.</a:t>
            </a:r>
          </a:p>
        </p:txBody>
      </p:sp>
    </p:spTree>
    <p:extLst>
      <p:ext uri="{BB962C8B-B14F-4D97-AF65-F5344CB8AC3E}">
        <p14:creationId xmlns:p14="http://schemas.microsoft.com/office/powerpoint/2010/main" val="33013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10</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8" name="CuadroTexto 7">
            <a:extLst>
              <a:ext uri="{FF2B5EF4-FFF2-40B4-BE49-F238E27FC236}">
                <a16:creationId xmlns:a16="http://schemas.microsoft.com/office/drawing/2014/main" id="{45D22C34-3DE5-45AA-B973-5A43CF8BFE38}"/>
              </a:ext>
            </a:extLst>
          </p:cNvPr>
          <p:cNvSpPr txBox="1"/>
          <p:nvPr/>
        </p:nvSpPr>
        <p:spPr>
          <a:xfrm>
            <a:off x="881108" y="771436"/>
            <a:ext cx="6094520" cy="1200329"/>
          </a:xfrm>
          <a:prstGeom prst="rect">
            <a:avLst/>
          </a:prstGeom>
          <a:noFill/>
        </p:spPr>
        <p:txBody>
          <a:bodyPr wrap="square">
            <a:spAutoFit/>
          </a:bodyPr>
          <a:lstStyle/>
          <a:p>
            <a:pPr algn="l"/>
            <a:r>
              <a:rPr lang="es-ES" b="1" i="0" dirty="0">
                <a:solidFill>
                  <a:srgbClr val="000000"/>
                </a:solidFill>
                <a:effectLst/>
              </a:rPr>
              <a:t>Ejemplo 2</a:t>
            </a:r>
            <a:endParaRPr lang="es-ES" b="0" i="0" dirty="0">
              <a:solidFill>
                <a:srgbClr val="000000"/>
              </a:solidFill>
              <a:effectLst/>
            </a:endParaRPr>
          </a:p>
          <a:p>
            <a:pPr algn="l"/>
            <a:r>
              <a:rPr lang="es-ES" b="0" i="0" dirty="0">
                <a:solidFill>
                  <a:srgbClr val="000000"/>
                </a:solidFill>
                <a:effectLst/>
              </a:rPr>
              <a:t>Se solicita que el robot recoja una manzana ubicada justo dos casillas al frente de su posición inicial.</a:t>
            </a:r>
          </a:p>
          <a:p>
            <a:pPr algn="l"/>
            <a:r>
              <a:rPr lang="es-ES" b="0" i="0" dirty="0">
                <a:solidFill>
                  <a:srgbClr val="000000"/>
                </a:solidFill>
                <a:effectLst/>
              </a:rPr>
              <a:t>El robot se mueve una casilla a la vez.</a:t>
            </a:r>
          </a:p>
        </p:txBody>
      </p:sp>
      <p:pic>
        <p:nvPicPr>
          <p:cNvPr id="9" name="Picture 2" descr="posicion inicial del robot">
            <a:extLst>
              <a:ext uri="{FF2B5EF4-FFF2-40B4-BE49-F238E27FC236}">
                <a16:creationId xmlns:a16="http://schemas.microsoft.com/office/drawing/2014/main" id="{7ACCEE7B-1F97-416F-9E13-80C220B4C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4677" y="534451"/>
            <a:ext cx="2585714" cy="2558496"/>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61974CEF-A698-4517-A73D-C4D4A0C70283}"/>
              </a:ext>
            </a:extLst>
          </p:cNvPr>
          <p:cNvSpPr txBox="1"/>
          <p:nvPr/>
        </p:nvSpPr>
        <p:spPr>
          <a:xfrm>
            <a:off x="783454" y="2548722"/>
            <a:ext cx="6094520" cy="2308324"/>
          </a:xfrm>
          <a:prstGeom prst="rect">
            <a:avLst/>
          </a:prstGeom>
          <a:noFill/>
        </p:spPr>
        <p:txBody>
          <a:bodyPr wrap="square">
            <a:spAutoFit/>
          </a:bodyPr>
          <a:lstStyle/>
          <a:p>
            <a:pPr algn="l"/>
            <a:r>
              <a:rPr lang="es-ES" b="1" i="0" dirty="0">
                <a:solidFill>
                  <a:srgbClr val="000000"/>
                </a:solidFill>
                <a:effectLst/>
                <a:latin typeface="+mj-lt"/>
              </a:rPr>
              <a:t>Entradas:</a:t>
            </a:r>
          </a:p>
          <a:p>
            <a:pPr algn="l">
              <a:buFont typeface="Arial" panose="020B0604020202020204" pitchFamily="34" charset="0"/>
              <a:buChar char="•"/>
            </a:pPr>
            <a:r>
              <a:rPr lang="es-ES" b="0" i="0" dirty="0">
                <a:solidFill>
                  <a:srgbClr val="000000"/>
                </a:solidFill>
                <a:effectLst/>
                <a:latin typeface="+mj-lt"/>
              </a:rPr>
              <a:t>La posición inicial del robot ( (1, 1) mirando al este).</a:t>
            </a:r>
          </a:p>
          <a:p>
            <a:pPr algn="l">
              <a:buFont typeface="Arial" panose="020B0604020202020204" pitchFamily="34" charset="0"/>
              <a:buChar char="•"/>
            </a:pPr>
            <a:r>
              <a:rPr lang="es-ES" b="0" i="0" dirty="0">
                <a:solidFill>
                  <a:srgbClr val="000000"/>
                </a:solidFill>
                <a:effectLst/>
                <a:latin typeface="+mj-lt"/>
              </a:rPr>
              <a:t>Hay una manzana justo a dos celdas enfrente (en (3, 1)).</a:t>
            </a:r>
          </a:p>
          <a:p>
            <a:pPr algn="l">
              <a:buFont typeface="Arial" panose="020B0604020202020204" pitchFamily="34" charset="0"/>
              <a:buChar char="•"/>
            </a:pPr>
            <a:r>
              <a:rPr lang="es-ES" b="0" i="0" dirty="0">
                <a:solidFill>
                  <a:srgbClr val="000000"/>
                </a:solidFill>
                <a:effectLst/>
                <a:latin typeface="+mj-lt"/>
              </a:rPr>
              <a:t>El entorno del mundo (paredes, objetos, posiciones disponibles).</a:t>
            </a:r>
          </a:p>
          <a:p>
            <a:pPr algn="l"/>
            <a:r>
              <a:rPr lang="es-ES" b="1" i="0" dirty="0">
                <a:solidFill>
                  <a:srgbClr val="000000"/>
                </a:solidFill>
                <a:effectLst/>
                <a:latin typeface="+mj-lt"/>
              </a:rPr>
              <a:t>Proceso:</a:t>
            </a:r>
          </a:p>
          <a:p>
            <a:pPr algn="l">
              <a:buFont typeface="+mj-lt"/>
              <a:buAutoNum type="arabicPeriod"/>
            </a:pPr>
            <a:r>
              <a:rPr lang="es-ES" b="0" i="0" dirty="0">
                <a:solidFill>
                  <a:srgbClr val="000000"/>
                </a:solidFill>
                <a:effectLst/>
                <a:latin typeface="+mj-lt"/>
              </a:rPr>
              <a:t>Avanzar una casilla hacia adelante.</a:t>
            </a:r>
          </a:p>
        </p:txBody>
      </p:sp>
      <p:pic>
        <p:nvPicPr>
          <p:cNvPr id="13" name="Picture 4" descr="step2">
            <a:extLst>
              <a:ext uri="{FF2B5EF4-FFF2-40B4-BE49-F238E27FC236}">
                <a16:creationId xmlns:a16="http://schemas.microsoft.com/office/drawing/2014/main" id="{ACC8CC0E-785E-4A5E-A4E9-98D57F0819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7974" y="3496767"/>
            <a:ext cx="2993778" cy="2997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789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11</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5" name="CuadroTexto 4">
            <a:extLst>
              <a:ext uri="{FF2B5EF4-FFF2-40B4-BE49-F238E27FC236}">
                <a16:creationId xmlns:a16="http://schemas.microsoft.com/office/drawing/2014/main" id="{CC2A9FE4-9E7F-4B09-82F4-A357C21542CB}"/>
              </a:ext>
            </a:extLst>
          </p:cNvPr>
          <p:cNvSpPr txBox="1"/>
          <p:nvPr/>
        </p:nvSpPr>
        <p:spPr>
          <a:xfrm>
            <a:off x="907742" y="680906"/>
            <a:ext cx="4151146" cy="369332"/>
          </a:xfrm>
          <a:prstGeom prst="rect">
            <a:avLst/>
          </a:prstGeom>
          <a:noFill/>
        </p:spPr>
        <p:txBody>
          <a:bodyPr wrap="square">
            <a:spAutoFit/>
          </a:bodyPr>
          <a:lstStyle/>
          <a:p>
            <a:r>
              <a:rPr lang="es-ES" b="0" i="0" dirty="0">
                <a:solidFill>
                  <a:srgbClr val="000000"/>
                </a:solidFill>
                <a:effectLst/>
                <a:latin typeface="Arial" panose="020B0604020202020204" pitchFamily="34" charset="0"/>
              </a:rPr>
              <a:t>2. Avanzar una casilla hacia adelante</a:t>
            </a:r>
            <a:endParaRPr lang="es-CO" dirty="0"/>
          </a:p>
        </p:txBody>
      </p:sp>
      <p:pic>
        <p:nvPicPr>
          <p:cNvPr id="6" name="Picture 2" descr="step3">
            <a:extLst>
              <a:ext uri="{FF2B5EF4-FFF2-40B4-BE49-F238E27FC236}">
                <a16:creationId xmlns:a16="http://schemas.microsoft.com/office/drawing/2014/main" id="{19150376-5B93-42A0-A0AC-950D8A0134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742" y="1154288"/>
            <a:ext cx="3839391" cy="38305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step 4">
            <a:extLst>
              <a:ext uri="{FF2B5EF4-FFF2-40B4-BE49-F238E27FC236}">
                <a16:creationId xmlns:a16="http://schemas.microsoft.com/office/drawing/2014/main" id="{3739AAE3-D9D6-4595-8F4E-C4FD30ED0E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1227" y="1256191"/>
            <a:ext cx="4773513" cy="4736237"/>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04F07E6A-7633-42EB-9625-DA06AA4DD5B9}"/>
              </a:ext>
            </a:extLst>
          </p:cNvPr>
          <p:cNvSpPr txBox="1"/>
          <p:nvPr/>
        </p:nvSpPr>
        <p:spPr>
          <a:xfrm>
            <a:off x="552635" y="5190765"/>
            <a:ext cx="6094520" cy="1200329"/>
          </a:xfrm>
          <a:prstGeom prst="rect">
            <a:avLst/>
          </a:prstGeom>
          <a:noFill/>
        </p:spPr>
        <p:txBody>
          <a:bodyPr wrap="square">
            <a:spAutoFit/>
          </a:bodyPr>
          <a:lstStyle/>
          <a:p>
            <a:pPr algn="l"/>
            <a:r>
              <a:rPr lang="es-ES" b="1" i="0" dirty="0">
                <a:solidFill>
                  <a:srgbClr val="000000"/>
                </a:solidFill>
                <a:effectLst/>
                <a:latin typeface="+mj-lt"/>
              </a:rPr>
              <a:t>Salida:</a:t>
            </a:r>
          </a:p>
          <a:p>
            <a:pPr algn="l">
              <a:buFont typeface="Arial" panose="020B0604020202020204" pitchFamily="34" charset="0"/>
              <a:buChar char="•"/>
            </a:pPr>
            <a:r>
              <a:rPr lang="es-ES" b="0" i="0" dirty="0">
                <a:solidFill>
                  <a:srgbClr val="000000"/>
                </a:solidFill>
                <a:effectLst/>
                <a:latin typeface="+mj-lt"/>
              </a:rPr>
              <a:t>El robot se encuentra en la celda (3, 1).</a:t>
            </a:r>
          </a:p>
          <a:p>
            <a:pPr algn="l">
              <a:buFont typeface="Arial" panose="020B0604020202020204" pitchFamily="34" charset="0"/>
              <a:buChar char="•"/>
            </a:pPr>
            <a:r>
              <a:rPr lang="es-ES" b="0" i="0" dirty="0">
                <a:solidFill>
                  <a:srgbClr val="000000"/>
                </a:solidFill>
                <a:effectLst/>
                <a:latin typeface="+mj-lt"/>
              </a:rPr>
              <a:t>La manzana ha sido recogida.</a:t>
            </a:r>
          </a:p>
          <a:p>
            <a:pPr algn="l">
              <a:buFont typeface="Arial" panose="020B0604020202020204" pitchFamily="34" charset="0"/>
              <a:buChar char="•"/>
            </a:pPr>
            <a:r>
              <a:rPr lang="es-ES" b="0" i="0" dirty="0">
                <a:solidFill>
                  <a:srgbClr val="000000"/>
                </a:solidFill>
                <a:effectLst/>
                <a:latin typeface="+mj-lt"/>
              </a:rPr>
              <a:t>La celda (3, 1) ya no contiene una manzana.</a:t>
            </a:r>
          </a:p>
        </p:txBody>
      </p:sp>
      <p:sp>
        <p:nvSpPr>
          <p:cNvPr id="9" name="CuadroTexto 8">
            <a:extLst>
              <a:ext uri="{FF2B5EF4-FFF2-40B4-BE49-F238E27FC236}">
                <a16:creationId xmlns:a16="http://schemas.microsoft.com/office/drawing/2014/main" id="{412FF02F-2734-49B9-B847-2D555C062E9A}"/>
              </a:ext>
            </a:extLst>
          </p:cNvPr>
          <p:cNvSpPr txBox="1"/>
          <p:nvPr/>
        </p:nvSpPr>
        <p:spPr>
          <a:xfrm>
            <a:off x="6420774" y="865572"/>
            <a:ext cx="4123966" cy="369332"/>
          </a:xfrm>
          <a:prstGeom prst="rect">
            <a:avLst/>
          </a:prstGeom>
          <a:noFill/>
        </p:spPr>
        <p:txBody>
          <a:bodyPr wrap="square">
            <a:spAutoFit/>
          </a:bodyPr>
          <a:lstStyle/>
          <a:p>
            <a:r>
              <a:rPr lang="es-CO" b="0" i="0" dirty="0">
                <a:solidFill>
                  <a:srgbClr val="000000"/>
                </a:solidFill>
                <a:effectLst/>
                <a:latin typeface="Arial" panose="020B0604020202020204" pitchFamily="34" charset="0"/>
              </a:rPr>
              <a:t>3.Recoger la manzana</a:t>
            </a:r>
            <a:endParaRPr lang="es-CO" dirty="0"/>
          </a:p>
        </p:txBody>
      </p:sp>
    </p:spTree>
    <p:extLst>
      <p:ext uri="{BB962C8B-B14F-4D97-AF65-F5344CB8AC3E}">
        <p14:creationId xmlns:p14="http://schemas.microsoft.com/office/powerpoint/2010/main" val="94179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12</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12" name="CuadroTexto 11">
            <a:extLst>
              <a:ext uri="{FF2B5EF4-FFF2-40B4-BE49-F238E27FC236}">
                <a16:creationId xmlns:a16="http://schemas.microsoft.com/office/drawing/2014/main" id="{CC24B957-B60A-4A19-84F4-F01381ADADDE}"/>
              </a:ext>
            </a:extLst>
          </p:cNvPr>
          <p:cNvSpPr txBox="1"/>
          <p:nvPr/>
        </p:nvSpPr>
        <p:spPr>
          <a:xfrm>
            <a:off x="1175656" y="527853"/>
            <a:ext cx="5248894" cy="369332"/>
          </a:xfrm>
          <a:prstGeom prst="rect">
            <a:avLst/>
          </a:prstGeom>
          <a:noFill/>
        </p:spPr>
        <p:txBody>
          <a:bodyPr wrap="square">
            <a:spAutoFit/>
          </a:bodyPr>
          <a:lstStyle/>
          <a:p>
            <a:r>
              <a:rPr lang="es-ES" b="1" i="0" dirty="0">
                <a:solidFill>
                  <a:srgbClr val="000000"/>
                </a:solidFill>
                <a:effectLst/>
                <a:latin typeface="+mj-lt"/>
              </a:rPr>
              <a:t>¿Qué es el Pseudocódigo y para qué sirve?</a:t>
            </a:r>
            <a:endParaRPr lang="es-CO" dirty="0">
              <a:latin typeface="+mj-lt"/>
            </a:endParaRPr>
          </a:p>
        </p:txBody>
      </p:sp>
      <p:sp>
        <p:nvSpPr>
          <p:cNvPr id="13" name="CuadroTexto 12">
            <a:extLst>
              <a:ext uri="{FF2B5EF4-FFF2-40B4-BE49-F238E27FC236}">
                <a16:creationId xmlns:a16="http://schemas.microsoft.com/office/drawing/2014/main" id="{A00F9984-3DAF-4127-A688-F2685C089669}"/>
              </a:ext>
            </a:extLst>
          </p:cNvPr>
          <p:cNvSpPr txBox="1"/>
          <p:nvPr/>
        </p:nvSpPr>
        <p:spPr>
          <a:xfrm>
            <a:off x="479639" y="1166842"/>
            <a:ext cx="5339270" cy="5078313"/>
          </a:xfrm>
          <a:prstGeom prst="rect">
            <a:avLst/>
          </a:prstGeom>
          <a:noFill/>
        </p:spPr>
        <p:txBody>
          <a:bodyPr wrap="square">
            <a:spAutoFit/>
          </a:bodyPr>
          <a:lstStyle/>
          <a:p>
            <a:pPr algn="just"/>
            <a:r>
              <a:rPr lang="es-ES" b="0" i="0" dirty="0">
                <a:solidFill>
                  <a:srgbClr val="000000"/>
                </a:solidFill>
                <a:effectLst/>
                <a:latin typeface="Arial" panose="020B0604020202020204" pitchFamily="34" charset="0"/>
              </a:rPr>
              <a:t>El </a:t>
            </a:r>
            <a:r>
              <a:rPr lang="es-ES" b="1" i="0" dirty="0">
                <a:solidFill>
                  <a:srgbClr val="000000"/>
                </a:solidFill>
                <a:effectLst/>
                <a:latin typeface="Arial" panose="020B0604020202020204" pitchFamily="34" charset="0"/>
              </a:rPr>
              <a:t>Pseudocódigo</a:t>
            </a:r>
            <a:r>
              <a:rPr lang="es-ES" b="0" i="0" dirty="0">
                <a:solidFill>
                  <a:srgbClr val="000000"/>
                </a:solidFill>
                <a:effectLst/>
                <a:latin typeface="Arial" panose="020B0604020202020204" pitchFamily="34" charset="0"/>
              </a:rPr>
              <a:t> (falso código) es una forma de describir los pasos de un algoritmo utilizando un lenguaje natural, pero con una estructura y unas palabras clave que se asemejan a un lenguaje de programación.</a:t>
            </a:r>
          </a:p>
          <a:p>
            <a:pPr algn="just"/>
            <a:r>
              <a:rPr lang="es-ES" b="1" i="0" dirty="0">
                <a:solidFill>
                  <a:srgbClr val="000000"/>
                </a:solidFill>
                <a:effectLst/>
                <a:latin typeface="Arial" panose="020B0604020202020204" pitchFamily="34" charset="0"/>
              </a:rPr>
              <a:t>Propósitos principales:</a:t>
            </a:r>
            <a:endParaRPr lang="es-ES" b="0" i="0" dirty="0">
              <a:solidFill>
                <a:srgbClr val="000000"/>
              </a:solidFill>
              <a:effectLst/>
              <a:latin typeface="Arial" panose="020B0604020202020204" pitchFamily="34" charset="0"/>
            </a:endParaRPr>
          </a:p>
          <a:p>
            <a:pPr algn="just">
              <a:buFont typeface="Arial" panose="020B0604020202020204" pitchFamily="34" charset="0"/>
              <a:buChar char="•"/>
            </a:pPr>
            <a:r>
              <a:rPr lang="es-ES" b="1" i="0" dirty="0">
                <a:solidFill>
                  <a:srgbClr val="000000"/>
                </a:solidFill>
                <a:effectLst/>
                <a:latin typeface="Arial" panose="020B0604020202020204" pitchFamily="34" charset="0"/>
              </a:rPr>
              <a:t>Diseñar y planificar:</a:t>
            </a:r>
            <a:r>
              <a:rPr lang="es-ES" b="0" i="0" dirty="0">
                <a:solidFill>
                  <a:srgbClr val="000000"/>
                </a:solidFill>
                <a:effectLst/>
                <a:latin typeface="Arial" panose="020B0604020202020204" pitchFamily="34" charset="0"/>
              </a:rPr>
              <a:t> Es un borrador que permite al programador centrarse en la lógica del algoritmo sin preocuparse por la sintaxis estricta de un lenguaje real (puntos y comas, paréntesis, etc.).</a:t>
            </a:r>
          </a:p>
          <a:p>
            <a:pPr algn="just">
              <a:buFont typeface="Arial" panose="020B0604020202020204" pitchFamily="34" charset="0"/>
              <a:buChar char="•"/>
            </a:pPr>
            <a:r>
              <a:rPr lang="es-ES" b="1" i="0" dirty="0">
                <a:solidFill>
                  <a:srgbClr val="000000"/>
                </a:solidFill>
                <a:effectLst/>
                <a:latin typeface="Arial" panose="020B0604020202020204" pitchFamily="34" charset="0"/>
              </a:rPr>
              <a:t>Comunicar ideas:</a:t>
            </a:r>
            <a:r>
              <a:rPr lang="es-ES" b="0" i="0" dirty="0">
                <a:solidFill>
                  <a:srgbClr val="000000"/>
                </a:solidFill>
                <a:effectLst/>
                <a:latin typeface="Arial" panose="020B0604020202020204" pitchFamily="34" charset="0"/>
              </a:rPr>
              <a:t> Es una herramienta universal. Un programador de Python y uno de Java pueden entender el mismo pseudocódigo porque describe la lógica, no la implementación.</a:t>
            </a:r>
          </a:p>
          <a:p>
            <a:pPr algn="just">
              <a:buFont typeface="Arial" panose="020B0604020202020204" pitchFamily="34" charset="0"/>
              <a:buChar char="•"/>
            </a:pPr>
            <a:r>
              <a:rPr lang="es-ES" b="1" i="0" dirty="0">
                <a:solidFill>
                  <a:srgbClr val="000000"/>
                </a:solidFill>
                <a:effectLst/>
                <a:latin typeface="Arial" panose="020B0604020202020204" pitchFamily="34" charset="0"/>
              </a:rPr>
              <a:t>Puente entre el análisis y la codificación:</a:t>
            </a:r>
            <a:r>
              <a:rPr lang="es-ES" b="0" i="0" dirty="0">
                <a:solidFill>
                  <a:srgbClr val="000000"/>
                </a:solidFill>
                <a:effectLst/>
                <a:latin typeface="Arial" panose="020B0604020202020204" pitchFamily="34" charset="0"/>
              </a:rPr>
              <a:t> Traduce el modelo E-P-S (Entrada-Proceso-Salida) a una secuencia de pasos lógicos y detallados.</a:t>
            </a:r>
          </a:p>
        </p:txBody>
      </p:sp>
      <p:sp>
        <p:nvSpPr>
          <p:cNvPr id="15" name="CuadroTexto 14">
            <a:extLst>
              <a:ext uri="{FF2B5EF4-FFF2-40B4-BE49-F238E27FC236}">
                <a16:creationId xmlns:a16="http://schemas.microsoft.com/office/drawing/2014/main" id="{8988F97D-7D35-4B4E-888E-AAB046B11443}"/>
              </a:ext>
            </a:extLst>
          </p:cNvPr>
          <p:cNvSpPr txBox="1"/>
          <p:nvPr/>
        </p:nvSpPr>
        <p:spPr>
          <a:xfrm>
            <a:off x="6886030" y="897185"/>
            <a:ext cx="4431154" cy="3970318"/>
          </a:xfrm>
          <a:prstGeom prst="rect">
            <a:avLst/>
          </a:prstGeom>
          <a:noFill/>
        </p:spPr>
        <p:txBody>
          <a:bodyPr wrap="square">
            <a:spAutoFit/>
          </a:bodyPr>
          <a:lstStyle/>
          <a:p>
            <a:pPr algn="l"/>
            <a:r>
              <a:rPr lang="es-ES" b="1" i="0" dirty="0">
                <a:solidFill>
                  <a:srgbClr val="000000"/>
                </a:solidFill>
                <a:effectLst/>
                <a:latin typeface="Arial" panose="020B0604020202020204" pitchFamily="34" charset="0"/>
              </a:rPr>
              <a:t>Características Principales</a:t>
            </a:r>
          </a:p>
          <a:p>
            <a:pPr algn="l"/>
            <a:endParaRPr lang="es-ES" b="0" i="0" dirty="0">
              <a:solidFill>
                <a:srgbClr val="000000"/>
              </a:solidFill>
              <a:effectLst/>
              <a:latin typeface="Arial" panose="020B0604020202020204" pitchFamily="34" charset="0"/>
            </a:endParaRPr>
          </a:p>
          <a:p>
            <a:pPr algn="l">
              <a:buFont typeface="Arial" panose="020B0604020202020204" pitchFamily="34" charset="0"/>
              <a:buChar char="•"/>
            </a:pPr>
            <a:r>
              <a:rPr lang="es-ES" b="1" i="0" dirty="0">
                <a:solidFill>
                  <a:srgbClr val="000000"/>
                </a:solidFill>
                <a:effectLst/>
                <a:latin typeface="Arial" panose="020B0604020202020204" pitchFamily="34" charset="0"/>
              </a:rPr>
              <a:t>No es un lenguaje de programación real:</a:t>
            </a:r>
            <a:r>
              <a:rPr lang="es-ES" b="0" i="0" dirty="0">
                <a:solidFill>
                  <a:srgbClr val="000000"/>
                </a:solidFill>
                <a:effectLst/>
                <a:latin typeface="Arial" panose="020B0604020202020204" pitchFamily="34" charset="0"/>
              </a:rPr>
              <a:t> No se puede compilar ni ejecutar.</a:t>
            </a:r>
          </a:p>
          <a:p>
            <a:pPr algn="l">
              <a:buFont typeface="Arial" panose="020B0604020202020204" pitchFamily="34" charset="0"/>
              <a:buChar char="•"/>
            </a:pPr>
            <a:r>
              <a:rPr lang="es-ES" b="1" i="0" dirty="0">
                <a:solidFill>
                  <a:srgbClr val="000000"/>
                </a:solidFill>
                <a:effectLst/>
                <a:latin typeface="Arial" panose="020B0604020202020204" pitchFamily="34" charset="0"/>
              </a:rPr>
              <a:t>Fácil de leer y escribir:</a:t>
            </a:r>
            <a:r>
              <a:rPr lang="es-ES" b="0" i="0" dirty="0">
                <a:solidFill>
                  <a:srgbClr val="000000"/>
                </a:solidFill>
                <a:effectLst/>
                <a:latin typeface="Arial" panose="020B0604020202020204" pitchFamily="34" charset="0"/>
              </a:rPr>
              <a:t> Usa palabras del lenguaje común.</a:t>
            </a:r>
          </a:p>
          <a:p>
            <a:pPr algn="l">
              <a:buFont typeface="Arial" panose="020B0604020202020204" pitchFamily="34" charset="0"/>
              <a:buChar char="•"/>
            </a:pPr>
            <a:r>
              <a:rPr lang="es-ES" b="1" i="0" dirty="0">
                <a:solidFill>
                  <a:srgbClr val="000000"/>
                </a:solidFill>
                <a:effectLst/>
                <a:latin typeface="Arial" panose="020B0604020202020204" pitchFamily="34" charset="0"/>
              </a:rPr>
              <a:t>Independiente del lenguaje de programación:</a:t>
            </a:r>
            <a:r>
              <a:rPr lang="es-ES" b="0" i="0" dirty="0">
                <a:solidFill>
                  <a:srgbClr val="000000"/>
                </a:solidFill>
                <a:effectLst/>
                <a:latin typeface="Arial" panose="020B0604020202020204" pitchFamily="34" charset="0"/>
              </a:rPr>
              <a:t> Un algoritmo en pseudocódigo se puede traducir luego a cualquier lenguaje (Java, Python, C++, etc.).</a:t>
            </a:r>
          </a:p>
          <a:p>
            <a:pPr algn="l">
              <a:buFont typeface="Arial" panose="020B0604020202020204" pitchFamily="34" charset="0"/>
              <a:buChar char="•"/>
            </a:pPr>
            <a:r>
              <a:rPr lang="es-ES" b="1" i="0" dirty="0">
                <a:solidFill>
                  <a:srgbClr val="000000"/>
                </a:solidFill>
                <a:effectLst/>
                <a:latin typeface="Arial" panose="020B0604020202020204" pitchFamily="34" charset="0"/>
              </a:rPr>
              <a:t>Se enfoca 100% en la lógica:</a:t>
            </a:r>
            <a:r>
              <a:rPr lang="es-ES" b="0" i="0" dirty="0">
                <a:solidFill>
                  <a:srgbClr val="000000"/>
                </a:solidFill>
                <a:effectLst/>
                <a:latin typeface="Arial" panose="020B0604020202020204" pitchFamily="34" charset="0"/>
              </a:rPr>
              <a:t> Permite resolver los problemas de flujo y de lógica antes de la fase de codificación.</a:t>
            </a:r>
          </a:p>
        </p:txBody>
      </p:sp>
    </p:spTree>
    <p:extLst>
      <p:ext uri="{BB962C8B-B14F-4D97-AF65-F5344CB8AC3E}">
        <p14:creationId xmlns:p14="http://schemas.microsoft.com/office/powerpoint/2010/main" val="3494521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13</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9" name="CuadroTexto 8">
            <a:extLst>
              <a:ext uri="{FF2B5EF4-FFF2-40B4-BE49-F238E27FC236}">
                <a16:creationId xmlns:a16="http://schemas.microsoft.com/office/drawing/2014/main" id="{25D017D8-E040-4E7B-AF96-D0ABDD542B06}"/>
              </a:ext>
            </a:extLst>
          </p:cNvPr>
          <p:cNvSpPr txBox="1"/>
          <p:nvPr/>
        </p:nvSpPr>
        <p:spPr>
          <a:xfrm>
            <a:off x="-340426" y="409100"/>
            <a:ext cx="6436426" cy="369332"/>
          </a:xfrm>
          <a:prstGeom prst="rect">
            <a:avLst/>
          </a:prstGeom>
          <a:noFill/>
        </p:spPr>
        <p:txBody>
          <a:bodyPr wrap="square">
            <a:spAutoFit/>
          </a:bodyPr>
          <a:lstStyle/>
          <a:p>
            <a:pPr algn="ctr"/>
            <a:r>
              <a:rPr lang="es-ES" sz="1800" b="1" i="0" dirty="0">
                <a:solidFill>
                  <a:schemeClr val="accent6">
                    <a:lumMod val="50000"/>
                  </a:schemeClr>
                </a:solidFill>
                <a:effectLst/>
                <a:latin typeface="+mj-lt"/>
              </a:rPr>
              <a:t>Ejemplo</a:t>
            </a:r>
          </a:p>
        </p:txBody>
      </p:sp>
      <p:sp>
        <p:nvSpPr>
          <p:cNvPr id="14" name="CuadroTexto 13">
            <a:extLst>
              <a:ext uri="{FF2B5EF4-FFF2-40B4-BE49-F238E27FC236}">
                <a16:creationId xmlns:a16="http://schemas.microsoft.com/office/drawing/2014/main" id="{8CDD258B-DD34-4F12-8A78-EC5607413C2B}"/>
              </a:ext>
            </a:extLst>
          </p:cNvPr>
          <p:cNvSpPr txBox="1"/>
          <p:nvPr/>
        </p:nvSpPr>
        <p:spPr>
          <a:xfrm>
            <a:off x="1163781" y="778432"/>
            <a:ext cx="8543548" cy="923330"/>
          </a:xfrm>
          <a:prstGeom prst="rect">
            <a:avLst/>
          </a:prstGeom>
          <a:noFill/>
        </p:spPr>
        <p:txBody>
          <a:bodyPr wrap="square">
            <a:spAutoFit/>
          </a:bodyPr>
          <a:lstStyle/>
          <a:p>
            <a:r>
              <a:rPr lang="es-ES" b="0" i="0" dirty="0">
                <a:solidFill>
                  <a:srgbClr val="000000"/>
                </a:solidFill>
                <a:effectLst/>
                <a:latin typeface="Arial" panose="020B0604020202020204" pitchFamily="34" charset="0"/>
              </a:rPr>
              <a:t>"</a:t>
            </a:r>
            <a:r>
              <a:rPr lang="es-ES" b="0" i="1" dirty="0">
                <a:solidFill>
                  <a:srgbClr val="000000"/>
                </a:solidFill>
                <a:effectLst/>
                <a:latin typeface="Arial" panose="020B0604020202020204" pitchFamily="34" charset="0"/>
              </a:rPr>
              <a:t>Se necesita un programa que calcule el promedio de tres calificaciones de un estudiante y determine si aprobó o reprobó el curso. El promedio para aprobar es de 60</a:t>
            </a:r>
            <a:r>
              <a:rPr lang="es-ES" b="0" i="0" dirty="0">
                <a:solidFill>
                  <a:srgbClr val="000000"/>
                </a:solidFill>
                <a:effectLst/>
                <a:latin typeface="Arial" panose="020B0604020202020204" pitchFamily="34" charset="0"/>
              </a:rPr>
              <a:t>"</a:t>
            </a:r>
            <a:endParaRPr lang="es-CO" dirty="0"/>
          </a:p>
        </p:txBody>
      </p:sp>
      <p:pic>
        <p:nvPicPr>
          <p:cNvPr id="6" name="Imagen 5">
            <a:extLst>
              <a:ext uri="{FF2B5EF4-FFF2-40B4-BE49-F238E27FC236}">
                <a16:creationId xmlns:a16="http://schemas.microsoft.com/office/drawing/2014/main" id="{AAA87588-B780-40FE-B633-55EFF8FFE14D}"/>
              </a:ext>
            </a:extLst>
          </p:cNvPr>
          <p:cNvPicPr>
            <a:picLocks noChangeAspect="1"/>
          </p:cNvPicPr>
          <p:nvPr/>
        </p:nvPicPr>
        <p:blipFill>
          <a:blip r:embed="rId4"/>
          <a:stretch>
            <a:fillRect/>
          </a:stretch>
        </p:blipFill>
        <p:spPr>
          <a:xfrm>
            <a:off x="2484671" y="1457007"/>
            <a:ext cx="6106377" cy="5268060"/>
          </a:xfrm>
          <a:prstGeom prst="rect">
            <a:avLst/>
          </a:prstGeom>
        </p:spPr>
      </p:pic>
    </p:spTree>
    <p:extLst>
      <p:ext uri="{BB962C8B-B14F-4D97-AF65-F5344CB8AC3E}">
        <p14:creationId xmlns:p14="http://schemas.microsoft.com/office/powerpoint/2010/main" val="3952635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14</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9" name="CuadroTexto 8">
            <a:extLst>
              <a:ext uri="{FF2B5EF4-FFF2-40B4-BE49-F238E27FC236}">
                <a16:creationId xmlns:a16="http://schemas.microsoft.com/office/drawing/2014/main" id="{25D017D8-E040-4E7B-AF96-D0ABDD542B06}"/>
              </a:ext>
            </a:extLst>
          </p:cNvPr>
          <p:cNvSpPr txBox="1"/>
          <p:nvPr/>
        </p:nvSpPr>
        <p:spPr>
          <a:xfrm>
            <a:off x="-340426" y="409100"/>
            <a:ext cx="6436426" cy="369332"/>
          </a:xfrm>
          <a:prstGeom prst="rect">
            <a:avLst/>
          </a:prstGeom>
          <a:noFill/>
        </p:spPr>
        <p:txBody>
          <a:bodyPr wrap="square">
            <a:spAutoFit/>
          </a:bodyPr>
          <a:lstStyle/>
          <a:p>
            <a:pPr algn="ctr"/>
            <a:r>
              <a:rPr lang="es-ES" sz="1800" b="1" i="0" dirty="0">
                <a:solidFill>
                  <a:schemeClr val="accent6">
                    <a:lumMod val="50000"/>
                  </a:schemeClr>
                </a:solidFill>
                <a:effectLst/>
                <a:latin typeface="+mj-lt"/>
              </a:rPr>
              <a:t>Ejemplo</a:t>
            </a:r>
          </a:p>
        </p:txBody>
      </p:sp>
      <p:pic>
        <p:nvPicPr>
          <p:cNvPr id="4" name="Imagen 3">
            <a:extLst>
              <a:ext uri="{FF2B5EF4-FFF2-40B4-BE49-F238E27FC236}">
                <a16:creationId xmlns:a16="http://schemas.microsoft.com/office/drawing/2014/main" id="{72B4C1A4-CEFC-4713-9E75-942E83289F9A}"/>
              </a:ext>
            </a:extLst>
          </p:cNvPr>
          <p:cNvPicPr>
            <a:picLocks noChangeAspect="1"/>
          </p:cNvPicPr>
          <p:nvPr/>
        </p:nvPicPr>
        <p:blipFill>
          <a:blip r:embed="rId4"/>
          <a:stretch>
            <a:fillRect/>
          </a:stretch>
        </p:blipFill>
        <p:spPr>
          <a:xfrm>
            <a:off x="4638865" y="704527"/>
            <a:ext cx="4363059" cy="5963482"/>
          </a:xfrm>
          <a:prstGeom prst="rect">
            <a:avLst/>
          </a:prstGeom>
        </p:spPr>
      </p:pic>
    </p:spTree>
    <p:extLst>
      <p:ext uri="{BB962C8B-B14F-4D97-AF65-F5344CB8AC3E}">
        <p14:creationId xmlns:p14="http://schemas.microsoft.com/office/powerpoint/2010/main" val="2481223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8BFEBA87-C0CD-434A-9521-31AFCAE6F9CF}" type="slidenum">
              <a:rPr lang="es-CO" smtClean="0"/>
              <a:t>15</a:t>
            </a:fld>
            <a:endParaRPr lang="es-CO"/>
          </a:p>
        </p:txBody>
      </p:sp>
      <p:pic>
        <p:nvPicPr>
          <p:cNvPr id="10" name="Imagen 9">
            <a:extLst>
              <a:ext uri="{FF2B5EF4-FFF2-40B4-BE49-F238E27FC236}">
                <a16:creationId xmlns:a16="http://schemas.microsoft.com/office/drawing/2014/main" id="{91382157-9477-5141-254D-CD64E1D272FD}"/>
              </a:ext>
            </a:extLst>
          </p:cNvPr>
          <p:cNvPicPr>
            <a:picLocks noChangeAspect="1"/>
          </p:cNvPicPr>
          <p:nvPr/>
        </p:nvPicPr>
        <p:blipFill rotWithShape="1">
          <a:blip r:embed="rId2"/>
          <a:srcRect l="-42219" r="42219"/>
          <a:stretch/>
        </p:blipFill>
        <p:spPr>
          <a:xfrm>
            <a:off x="-575608" y="6192912"/>
            <a:ext cx="2215396" cy="475097"/>
          </a:xfrm>
          <a:prstGeom prst="rect">
            <a:avLst/>
          </a:prstGeom>
        </p:spPr>
      </p:pic>
      <p:pic>
        <p:nvPicPr>
          <p:cNvPr id="11" name="Imagen 10">
            <a:extLst>
              <a:ext uri="{FF2B5EF4-FFF2-40B4-BE49-F238E27FC236}">
                <a16:creationId xmlns:a16="http://schemas.microsoft.com/office/drawing/2014/main" id="{0F058818-2344-C8B8-5689-02CBC904AAD2}"/>
              </a:ext>
            </a:extLst>
          </p:cNvPr>
          <p:cNvPicPr>
            <a:picLocks noChangeAspect="1"/>
          </p:cNvPicPr>
          <p:nvPr/>
        </p:nvPicPr>
        <p:blipFill rotWithShape="1">
          <a:blip r:embed="rId3"/>
          <a:srcRect l="-42411" r="42411"/>
          <a:stretch/>
        </p:blipFill>
        <p:spPr>
          <a:xfrm>
            <a:off x="-680509" y="7001998"/>
            <a:ext cx="2320297" cy="497594"/>
          </a:xfrm>
          <a:prstGeom prst="rect">
            <a:avLst/>
          </a:prstGeom>
        </p:spPr>
      </p:pic>
      <p:sp>
        <p:nvSpPr>
          <p:cNvPr id="8" name="CuadroTexto 7">
            <a:extLst>
              <a:ext uri="{FF2B5EF4-FFF2-40B4-BE49-F238E27FC236}">
                <a16:creationId xmlns:a16="http://schemas.microsoft.com/office/drawing/2014/main" id="{D2A80D46-BAE3-419E-9ED4-E26C5FE69F45}"/>
              </a:ext>
            </a:extLst>
          </p:cNvPr>
          <p:cNvSpPr txBox="1"/>
          <p:nvPr/>
        </p:nvSpPr>
        <p:spPr>
          <a:xfrm>
            <a:off x="2458192" y="539728"/>
            <a:ext cx="6436426" cy="369332"/>
          </a:xfrm>
          <a:prstGeom prst="rect">
            <a:avLst/>
          </a:prstGeom>
          <a:noFill/>
        </p:spPr>
        <p:txBody>
          <a:bodyPr wrap="square">
            <a:spAutoFit/>
          </a:bodyPr>
          <a:lstStyle/>
          <a:p>
            <a:pPr algn="l"/>
            <a:r>
              <a:rPr lang="es-CO" b="1" i="0" u="none" strike="noStrike" dirty="0">
                <a:solidFill>
                  <a:srgbClr val="4C4452"/>
                </a:solidFill>
                <a:effectLst/>
                <a:latin typeface="Arial" panose="020B0604020202020204" pitchFamily="34" charset="0"/>
              </a:rPr>
              <a:t>Estructura Mientras que</a:t>
            </a:r>
          </a:p>
        </p:txBody>
      </p:sp>
      <p:sp>
        <p:nvSpPr>
          <p:cNvPr id="12" name="CuadroTexto 11">
            <a:extLst>
              <a:ext uri="{FF2B5EF4-FFF2-40B4-BE49-F238E27FC236}">
                <a16:creationId xmlns:a16="http://schemas.microsoft.com/office/drawing/2014/main" id="{942642B1-49CD-4CF4-BF31-DC8B3E87590D}"/>
              </a:ext>
            </a:extLst>
          </p:cNvPr>
          <p:cNvSpPr txBox="1"/>
          <p:nvPr/>
        </p:nvSpPr>
        <p:spPr>
          <a:xfrm>
            <a:off x="1793173" y="1027307"/>
            <a:ext cx="6436426" cy="4801314"/>
          </a:xfrm>
          <a:prstGeom prst="rect">
            <a:avLst/>
          </a:prstGeom>
          <a:noFill/>
        </p:spPr>
        <p:txBody>
          <a:bodyPr wrap="square">
            <a:spAutoFit/>
          </a:bodyPr>
          <a:lstStyle/>
          <a:p>
            <a:pPr algn="l"/>
            <a:r>
              <a:rPr lang="es-ES" b="0" i="0" dirty="0">
                <a:solidFill>
                  <a:srgbClr val="000000"/>
                </a:solidFill>
                <a:effectLst/>
                <a:latin typeface="Arial" panose="020B0604020202020204" pitchFamily="34" charset="0"/>
              </a:rPr>
              <a:t>Se usa cuando un procedimiento debe repetirse mientras la condición se cumpla.</a:t>
            </a:r>
          </a:p>
          <a:p>
            <a:pPr algn="l"/>
            <a:endParaRPr lang="es-ES" b="0" i="0" dirty="0">
              <a:solidFill>
                <a:srgbClr val="000000"/>
              </a:solidFill>
              <a:effectLst/>
              <a:latin typeface="Arial" panose="020B0604020202020204" pitchFamily="34" charset="0"/>
            </a:endParaRPr>
          </a:p>
          <a:p>
            <a:pPr algn="l"/>
            <a:r>
              <a:rPr lang="es-ES" b="0" i="0" dirty="0">
                <a:solidFill>
                  <a:srgbClr val="000000"/>
                </a:solidFill>
                <a:effectLst/>
                <a:latin typeface="Arial" panose="020B0604020202020204" pitchFamily="34" charset="0"/>
              </a:rPr>
              <a:t>La estructura:</a:t>
            </a:r>
          </a:p>
          <a:p>
            <a:pPr algn="l"/>
            <a:r>
              <a:rPr lang="es-ES" b="1" i="0" dirty="0">
                <a:solidFill>
                  <a:srgbClr val="000000"/>
                </a:solidFill>
                <a:effectLst/>
                <a:latin typeface="Arial" panose="020B0604020202020204" pitchFamily="34" charset="0"/>
              </a:rPr>
              <a:t>Mientras</a:t>
            </a:r>
            <a:r>
              <a:rPr lang="es-ES" b="0" i="0" dirty="0">
                <a:solidFill>
                  <a:srgbClr val="000000"/>
                </a:solidFill>
                <a:effectLst/>
                <a:latin typeface="Arial" panose="020B0604020202020204" pitchFamily="34" charset="0"/>
              </a:rPr>
              <a:t> </a:t>
            </a:r>
            <a:r>
              <a:rPr lang="es-ES" b="1" i="0" dirty="0" err="1">
                <a:solidFill>
                  <a:srgbClr val="4D99E6"/>
                </a:solidFill>
                <a:effectLst/>
                <a:latin typeface="Arial" panose="020B0604020202020204" pitchFamily="34" charset="0"/>
              </a:rPr>
              <a:t>se_cumpla_condición</a:t>
            </a:r>
            <a:r>
              <a:rPr lang="es-ES" b="0" i="0" dirty="0">
                <a:solidFill>
                  <a:srgbClr val="000000"/>
                </a:solidFill>
                <a:effectLst/>
                <a:latin typeface="Arial" panose="020B0604020202020204" pitchFamily="34" charset="0"/>
              </a:rPr>
              <a:t> hacer:</a:t>
            </a:r>
          </a:p>
          <a:p>
            <a:pPr algn="l"/>
            <a:r>
              <a:rPr lang="es-ES" b="0" i="0" dirty="0">
                <a:solidFill>
                  <a:srgbClr val="000000"/>
                </a:solidFill>
                <a:effectLst/>
                <a:latin typeface="Arial" panose="020B0604020202020204" pitchFamily="34" charset="0"/>
              </a:rPr>
              <a:t>     proceso</a:t>
            </a:r>
          </a:p>
          <a:p>
            <a:pPr algn="l"/>
            <a:r>
              <a:rPr lang="es-ES" b="1" i="0" dirty="0" err="1">
                <a:solidFill>
                  <a:srgbClr val="000000"/>
                </a:solidFill>
                <a:effectLst/>
                <a:latin typeface="Arial" panose="020B0604020202020204" pitchFamily="34" charset="0"/>
              </a:rPr>
              <a:t>Fin_Mientras</a:t>
            </a:r>
            <a:endParaRPr lang="es-ES" b="0" i="0" dirty="0">
              <a:solidFill>
                <a:srgbClr val="000000"/>
              </a:solidFill>
              <a:effectLst/>
              <a:latin typeface="Arial" panose="020B0604020202020204" pitchFamily="34" charset="0"/>
            </a:endParaRPr>
          </a:p>
          <a:p>
            <a:pPr algn="l"/>
            <a:r>
              <a:rPr lang="es-ES" b="0" i="0" dirty="0">
                <a:solidFill>
                  <a:srgbClr val="000000"/>
                </a:solidFill>
                <a:effectLst/>
                <a:latin typeface="Arial" panose="020B0604020202020204" pitchFamily="34" charset="0"/>
              </a:rPr>
              <a:t>indica que el proceso solo dejará de realizarse mientras la condición se siga cumpliendo.</a:t>
            </a:r>
          </a:p>
          <a:p>
            <a:pPr algn="l"/>
            <a:r>
              <a:rPr lang="es-ES" b="1" i="0" dirty="0">
                <a:solidFill>
                  <a:srgbClr val="000000"/>
                </a:solidFill>
                <a:effectLst/>
                <a:latin typeface="Arial" panose="020B0604020202020204" pitchFamily="34" charset="0"/>
              </a:rPr>
              <a:t>Ejemplo:</a:t>
            </a:r>
            <a:endParaRPr lang="es-ES" b="0" i="0" dirty="0">
              <a:solidFill>
                <a:srgbClr val="000000"/>
              </a:solidFill>
              <a:effectLst/>
              <a:latin typeface="Arial" panose="020B0604020202020204" pitchFamily="34" charset="0"/>
            </a:endParaRPr>
          </a:p>
          <a:p>
            <a:pPr algn="l"/>
            <a:r>
              <a:rPr lang="es-ES" b="1" i="0" dirty="0">
                <a:solidFill>
                  <a:srgbClr val="000000"/>
                </a:solidFill>
                <a:effectLst/>
                <a:latin typeface="Arial" panose="020B0604020202020204" pitchFamily="34" charset="0"/>
              </a:rPr>
              <a:t>Inicio</a:t>
            </a:r>
            <a:endParaRPr lang="es-ES" b="0" i="0" dirty="0">
              <a:solidFill>
                <a:srgbClr val="000000"/>
              </a:solidFill>
              <a:effectLst/>
              <a:latin typeface="Arial" panose="020B0604020202020204" pitchFamily="34" charset="0"/>
            </a:endParaRPr>
          </a:p>
          <a:p>
            <a:pPr algn="l"/>
            <a:r>
              <a:rPr lang="es-ES" b="0" i="0" dirty="0">
                <a:solidFill>
                  <a:srgbClr val="000000"/>
                </a:solidFill>
                <a:effectLst/>
                <a:latin typeface="Arial" panose="020B0604020202020204" pitchFamily="34" charset="0"/>
              </a:rPr>
              <a:t>       contador&lt;-0</a:t>
            </a:r>
          </a:p>
          <a:p>
            <a:pPr algn="l"/>
            <a:r>
              <a:rPr lang="es-ES" b="1" i="0" dirty="0">
                <a:solidFill>
                  <a:srgbClr val="000000"/>
                </a:solidFill>
                <a:effectLst/>
                <a:latin typeface="Arial" panose="020B0604020202020204" pitchFamily="34" charset="0"/>
              </a:rPr>
              <a:t>       Mientras</a:t>
            </a:r>
            <a:r>
              <a:rPr lang="es-ES" b="0" i="0" dirty="0">
                <a:solidFill>
                  <a:srgbClr val="000000"/>
                </a:solidFill>
                <a:effectLst/>
                <a:latin typeface="Arial" panose="020B0604020202020204" pitchFamily="34" charset="0"/>
              </a:rPr>
              <a:t> </a:t>
            </a:r>
            <a:r>
              <a:rPr lang="es-ES" b="1" i="0" dirty="0">
                <a:solidFill>
                  <a:srgbClr val="4D99E6"/>
                </a:solidFill>
                <a:effectLst/>
                <a:latin typeface="Arial" panose="020B0604020202020204" pitchFamily="34" charset="0"/>
              </a:rPr>
              <a:t>contador&lt;5</a:t>
            </a:r>
            <a:r>
              <a:rPr lang="es-ES" b="0" i="0" dirty="0">
                <a:solidFill>
                  <a:srgbClr val="000000"/>
                </a:solidFill>
                <a:effectLst/>
                <a:latin typeface="Arial" panose="020B0604020202020204" pitchFamily="34" charset="0"/>
              </a:rPr>
              <a:t> hacer:</a:t>
            </a:r>
          </a:p>
          <a:p>
            <a:pPr algn="l"/>
            <a:r>
              <a:rPr lang="es-ES" b="0" i="0" dirty="0">
                <a:solidFill>
                  <a:srgbClr val="000000"/>
                </a:solidFill>
                <a:effectLst/>
                <a:latin typeface="Arial" panose="020B0604020202020204" pitchFamily="34" charset="0"/>
              </a:rPr>
              <a:t>           Escribir contador</a:t>
            </a:r>
          </a:p>
          <a:p>
            <a:pPr algn="l"/>
            <a:r>
              <a:rPr lang="es-ES" b="0" i="0" dirty="0">
                <a:solidFill>
                  <a:srgbClr val="000000"/>
                </a:solidFill>
                <a:effectLst/>
                <a:latin typeface="Arial" panose="020B0604020202020204" pitchFamily="34" charset="0"/>
              </a:rPr>
              <a:t>           contador&lt;- contador +1</a:t>
            </a:r>
          </a:p>
          <a:p>
            <a:pPr algn="l"/>
            <a:r>
              <a:rPr lang="es-ES" b="1" i="0" dirty="0">
                <a:solidFill>
                  <a:srgbClr val="000000"/>
                </a:solidFill>
                <a:effectLst/>
                <a:latin typeface="Arial" panose="020B0604020202020204" pitchFamily="34" charset="0"/>
              </a:rPr>
              <a:t>       </a:t>
            </a:r>
            <a:r>
              <a:rPr lang="es-ES" b="1" i="0" dirty="0" err="1">
                <a:solidFill>
                  <a:srgbClr val="000000"/>
                </a:solidFill>
                <a:effectLst/>
                <a:latin typeface="Arial" panose="020B0604020202020204" pitchFamily="34" charset="0"/>
              </a:rPr>
              <a:t>Fin_Mientras</a:t>
            </a:r>
            <a:endParaRPr lang="es-ES" b="0" i="0" dirty="0">
              <a:solidFill>
                <a:srgbClr val="000000"/>
              </a:solidFill>
              <a:effectLst/>
              <a:latin typeface="Arial" panose="020B0604020202020204" pitchFamily="34" charset="0"/>
            </a:endParaRPr>
          </a:p>
          <a:p>
            <a:pPr algn="l"/>
            <a:r>
              <a:rPr lang="es-ES" b="1" i="0" dirty="0">
                <a:solidFill>
                  <a:srgbClr val="000000"/>
                </a:solidFill>
                <a:effectLst/>
                <a:latin typeface="Arial" panose="020B0604020202020204" pitchFamily="34" charset="0"/>
              </a:rPr>
              <a:t>Fin</a:t>
            </a:r>
            <a:endParaRPr lang="es-E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817779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D0C6A38-8E89-4123-AFE2-15468D55D3C8}"/>
              </a:ext>
            </a:extLst>
          </p:cNvPr>
          <p:cNvSpPr>
            <a:spLocks noGrp="1"/>
          </p:cNvSpPr>
          <p:nvPr>
            <p:ph type="sldNum" sz="quarter" idx="12"/>
          </p:nvPr>
        </p:nvSpPr>
        <p:spPr/>
        <p:txBody>
          <a:bodyPr/>
          <a:lstStyle/>
          <a:p>
            <a:fld id="{8BFEBA87-C0CD-434A-9521-31AFCAE6F9CF}" type="slidenum">
              <a:rPr lang="es-CO" smtClean="0"/>
              <a:t>16</a:t>
            </a:fld>
            <a:endParaRPr lang="es-CO"/>
          </a:p>
        </p:txBody>
      </p:sp>
      <p:sp>
        <p:nvSpPr>
          <p:cNvPr id="4" name="CuadroTexto 3">
            <a:extLst>
              <a:ext uri="{FF2B5EF4-FFF2-40B4-BE49-F238E27FC236}">
                <a16:creationId xmlns:a16="http://schemas.microsoft.com/office/drawing/2014/main" id="{7B970D2E-FB66-4219-8907-BE8EDCA9E251}"/>
              </a:ext>
            </a:extLst>
          </p:cNvPr>
          <p:cNvSpPr txBox="1"/>
          <p:nvPr/>
        </p:nvSpPr>
        <p:spPr>
          <a:xfrm>
            <a:off x="1398319" y="1529937"/>
            <a:ext cx="6097978" cy="3970318"/>
          </a:xfrm>
          <a:prstGeom prst="rect">
            <a:avLst/>
          </a:prstGeom>
          <a:noFill/>
        </p:spPr>
        <p:txBody>
          <a:bodyPr wrap="square">
            <a:spAutoFit/>
          </a:bodyPr>
          <a:lstStyle/>
          <a:p>
            <a:pPr algn="just" fontAlgn="base"/>
            <a:r>
              <a:rPr lang="es-ES" b="0" i="0" dirty="0">
                <a:solidFill>
                  <a:srgbClr val="000000"/>
                </a:solidFill>
                <a:effectLst/>
                <a:latin typeface="Poppins" panose="020B0502040204020203" pitchFamily="2" charset="0"/>
              </a:rPr>
              <a:t>Un diagrama de flujo puede considerarse una alternativa al pseudocódigo para presentar una solución algorítmica previa a la programación en un lenguaje real.</a:t>
            </a:r>
          </a:p>
          <a:p>
            <a:pPr algn="just" fontAlgn="base"/>
            <a:br>
              <a:rPr lang="es-ES" b="0" i="0" dirty="0">
                <a:solidFill>
                  <a:srgbClr val="000000"/>
                </a:solidFill>
                <a:effectLst/>
                <a:latin typeface="Poppins" panose="020B0502040204020203" pitchFamily="2" charset="0"/>
              </a:rPr>
            </a:br>
            <a:endParaRPr lang="es-ES" b="0" i="0" dirty="0">
              <a:solidFill>
                <a:srgbClr val="000000"/>
              </a:solidFill>
              <a:effectLst/>
              <a:latin typeface="Poppins" panose="020B0502040204020203" pitchFamily="2" charset="0"/>
            </a:endParaRPr>
          </a:p>
          <a:p>
            <a:pPr algn="just" fontAlgn="base"/>
            <a:r>
              <a:rPr lang="es-ES" b="0" i="0" dirty="0">
                <a:solidFill>
                  <a:srgbClr val="000000"/>
                </a:solidFill>
                <a:effectLst/>
                <a:latin typeface="Poppins" panose="020B0502040204020203" pitchFamily="2" charset="0"/>
              </a:rPr>
              <a:t>Es una de las técnicas de representación más </a:t>
            </a:r>
            <a:r>
              <a:rPr lang="es-ES" b="0" i="0" dirty="0" err="1">
                <a:solidFill>
                  <a:srgbClr val="000000"/>
                </a:solidFill>
                <a:effectLst/>
                <a:latin typeface="Poppins" panose="020B0502040204020203" pitchFamily="2" charset="0"/>
              </a:rPr>
              <a:t>antigüa</a:t>
            </a:r>
            <a:r>
              <a:rPr lang="es-ES" b="0" i="0" dirty="0">
                <a:solidFill>
                  <a:srgbClr val="000000"/>
                </a:solidFill>
                <a:effectLst/>
                <a:latin typeface="Poppins" panose="020B0502040204020203" pitchFamily="2" charset="0"/>
              </a:rPr>
              <a:t> y a la vez más utilizada.</a:t>
            </a:r>
          </a:p>
          <a:p>
            <a:pPr algn="just" fontAlgn="base"/>
            <a:r>
              <a:rPr lang="es-ES" b="0" i="0" dirty="0">
                <a:solidFill>
                  <a:srgbClr val="000000"/>
                </a:solidFill>
                <a:effectLst/>
                <a:latin typeface="Poppins" panose="020B0502040204020203" pitchFamily="2" charset="0"/>
              </a:rPr>
              <a:t>Muestra gráficamente los pasos o procesos a seguir para alcanzar la solución del problema mediante símbolos estandarizados unidos por flechas denominadas líneas de flujo.</a:t>
            </a:r>
          </a:p>
          <a:p>
            <a:pPr algn="just" fontAlgn="base"/>
            <a:r>
              <a:rPr lang="es-ES" b="0" i="0" dirty="0">
                <a:solidFill>
                  <a:srgbClr val="000000"/>
                </a:solidFill>
                <a:effectLst/>
                <a:latin typeface="Poppins" panose="020B0502040204020203" pitchFamily="2" charset="0"/>
              </a:rPr>
              <a:t>Si el diagrama de flujo está completo y correcto, el paso a un lenguaje de programación es relativamente simple y directo. (Vega, 2006)</a:t>
            </a:r>
          </a:p>
        </p:txBody>
      </p:sp>
      <p:sp>
        <p:nvSpPr>
          <p:cNvPr id="5" name="CuadroTexto 4">
            <a:extLst>
              <a:ext uri="{FF2B5EF4-FFF2-40B4-BE49-F238E27FC236}">
                <a16:creationId xmlns:a16="http://schemas.microsoft.com/office/drawing/2014/main" id="{4C4D0CBB-5DE5-4980-A946-483B939C6992}"/>
              </a:ext>
            </a:extLst>
          </p:cNvPr>
          <p:cNvSpPr txBox="1"/>
          <p:nvPr/>
        </p:nvSpPr>
        <p:spPr>
          <a:xfrm>
            <a:off x="3087584" y="641268"/>
            <a:ext cx="2295885" cy="369332"/>
          </a:xfrm>
          <a:prstGeom prst="rect">
            <a:avLst/>
          </a:prstGeom>
          <a:noFill/>
        </p:spPr>
        <p:txBody>
          <a:bodyPr wrap="none" rtlCol="0">
            <a:spAutoFit/>
          </a:bodyPr>
          <a:lstStyle/>
          <a:p>
            <a:r>
              <a:rPr lang="es-ES" dirty="0"/>
              <a:t>DIAGRAMA DE FLUJO</a:t>
            </a:r>
            <a:endParaRPr lang="es-CO" dirty="0"/>
          </a:p>
        </p:txBody>
      </p:sp>
    </p:spTree>
    <p:extLst>
      <p:ext uri="{BB962C8B-B14F-4D97-AF65-F5344CB8AC3E}">
        <p14:creationId xmlns:p14="http://schemas.microsoft.com/office/powerpoint/2010/main" val="3514189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8AAB54-EBF7-4F48-9CCA-C9958EC4DC9F}"/>
              </a:ext>
            </a:extLst>
          </p:cNvPr>
          <p:cNvSpPr>
            <a:spLocks noGrp="1"/>
          </p:cNvSpPr>
          <p:nvPr>
            <p:ph type="sldNum" sz="quarter" idx="12"/>
          </p:nvPr>
        </p:nvSpPr>
        <p:spPr/>
        <p:txBody>
          <a:bodyPr/>
          <a:lstStyle/>
          <a:p>
            <a:fld id="{8BFEBA87-C0CD-434A-9521-31AFCAE6F9CF}" type="slidenum">
              <a:rPr lang="es-CO" smtClean="0"/>
              <a:t>17</a:t>
            </a:fld>
            <a:endParaRPr lang="es-CO"/>
          </a:p>
        </p:txBody>
      </p:sp>
      <p:sp>
        <p:nvSpPr>
          <p:cNvPr id="3" name="Diagrama de flujo: terminador 2">
            <a:extLst>
              <a:ext uri="{FF2B5EF4-FFF2-40B4-BE49-F238E27FC236}">
                <a16:creationId xmlns:a16="http://schemas.microsoft.com/office/drawing/2014/main" id="{D7093958-E034-47E8-91AB-D119D693DD16}"/>
              </a:ext>
            </a:extLst>
          </p:cNvPr>
          <p:cNvSpPr/>
          <p:nvPr/>
        </p:nvSpPr>
        <p:spPr>
          <a:xfrm>
            <a:off x="1015999" y="630216"/>
            <a:ext cx="2298700" cy="939800"/>
          </a:xfrm>
          <a:prstGeom prst="flowChartTerminator">
            <a:avLst/>
          </a:prstGeom>
          <a:solidFill>
            <a:schemeClr val="accent1">
              <a:lumMod val="40000"/>
              <a:lumOff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CuadroTexto 3">
            <a:extLst>
              <a:ext uri="{FF2B5EF4-FFF2-40B4-BE49-F238E27FC236}">
                <a16:creationId xmlns:a16="http://schemas.microsoft.com/office/drawing/2014/main" id="{24FABA78-8CED-421F-8EA4-3A2E4D5F0B66}"/>
              </a:ext>
            </a:extLst>
          </p:cNvPr>
          <p:cNvSpPr txBox="1"/>
          <p:nvPr/>
        </p:nvSpPr>
        <p:spPr>
          <a:xfrm>
            <a:off x="4251366" y="985652"/>
            <a:ext cx="1281120" cy="369332"/>
          </a:xfrm>
          <a:prstGeom prst="rect">
            <a:avLst/>
          </a:prstGeom>
          <a:noFill/>
        </p:spPr>
        <p:txBody>
          <a:bodyPr wrap="none" rtlCol="0">
            <a:spAutoFit/>
          </a:bodyPr>
          <a:lstStyle/>
          <a:p>
            <a:r>
              <a:rPr lang="es-ES" dirty="0"/>
              <a:t>Inicio / fin</a:t>
            </a:r>
            <a:endParaRPr lang="es-CO" dirty="0"/>
          </a:p>
        </p:txBody>
      </p:sp>
      <p:sp>
        <p:nvSpPr>
          <p:cNvPr id="5" name="Diagrama de flujo: entrada manual 4">
            <a:extLst>
              <a:ext uri="{FF2B5EF4-FFF2-40B4-BE49-F238E27FC236}">
                <a16:creationId xmlns:a16="http://schemas.microsoft.com/office/drawing/2014/main" id="{9301D790-0EBD-4879-97E2-EE1BFFC1F4E2}"/>
              </a:ext>
            </a:extLst>
          </p:cNvPr>
          <p:cNvSpPr/>
          <p:nvPr/>
        </p:nvSpPr>
        <p:spPr>
          <a:xfrm>
            <a:off x="893618" y="2070842"/>
            <a:ext cx="2298700" cy="1054100"/>
          </a:xfrm>
          <a:prstGeom prst="flowChartManualInput">
            <a:avLst/>
          </a:prstGeom>
          <a:solidFill>
            <a:schemeClr val="accent1">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endParaRPr>
          </a:p>
        </p:txBody>
      </p:sp>
      <p:sp>
        <p:nvSpPr>
          <p:cNvPr id="6" name="CuadroTexto 5">
            <a:extLst>
              <a:ext uri="{FF2B5EF4-FFF2-40B4-BE49-F238E27FC236}">
                <a16:creationId xmlns:a16="http://schemas.microsoft.com/office/drawing/2014/main" id="{AD2D02CA-DC17-483A-B6B6-DA1E194269F5}"/>
              </a:ext>
            </a:extLst>
          </p:cNvPr>
          <p:cNvSpPr txBox="1"/>
          <p:nvPr/>
        </p:nvSpPr>
        <p:spPr>
          <a:xfrm>
            <a:off x="4000004" y="2325584"/>
            <a:ext cx="1922321" cy="369332"/>
          </a:xfrm>
          <a:prstGeom prst="rect">
            <a:avLst/>
          </a:prstGeom>
          <a:noFill/>
        </p:spPr>
        <p:txBody>
          <a:bodyPr wrap="none" rtlCol="0">
            <a:spAutoFit/>
          </a:bodyPr>
          <a:lstStyle/>
          <a:p>
            <a:r>
              <a:rPr lang="es-ES" dirty="0"/>
              <a:t>Lectura de datos</a:t>
            </a:r>
            <a:endParaRPr lang="es-CO" dirty="0"/>
          </a:p>
        </p:txBody>
      </p:sp>
      <p:sp>
        <p:nvSpPr>
          <p:cNvPr id="7" name="Diagrama de flujo: proceso 6">
            <a:extLst>
              <a:ext uri="{FF2B5EF4-FFF2-40B4-BE49-F238E27FC236}">
                <a16:creationId xmlns:a16="http://schemas.microsoft.com/office/drawing/2014/main" id="{99E9B7C8-43ED-4D1E-8EBC-EBDA3E140960}"/>
              </a:ext>
            </a:extLst>
          </p:cNvPr>
          <p:cNvSpPr/>
          <p:nvPr/>
        </p:nvSpPr>
        <p:spPr>
          <a:xfrm>
            <a:off x="1219199" y="3733059"/>
            <a:ext cx="1892300" cy="762000"/>
          </a:xfrm>
          <a:prstGeom prst="flowChartProcess">
            <a:avLst/>
          </a:prstGeom>
          <a:solidFill>
            <a:schemeClr val="accent1">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CuadroTexto 7">
            <a:extLst>
              <a:ext uri="{FF2B5EF4-FFF2-40B4-BE49-F238E27FC236}">
                <a16:creationId xmlns:a16="http://schemas.microsoft.com/office/drawing/2014/main" id="{447C58A9-FC5C-4F3C-BB17-0702BE192CCF}"/>
              </a:ext>
            </a:extLst>
          </p:cNvPr>
          <p:cNvSpPr txBox="1"/>
          <p:nvPr/>
        </p:nvSpPr>
        <p:spPr>
          <a:xfrm>
            <a:off x="3930765" y="3793753"/>
            <a:ext cx="972126" cy="369332"/>
          </a:xfrm>
          <a:prstGeom prst="rect">
            <a:avLst/>
          </a:prstGeom>
          <a:noFill/>
        </p:spPr>
        <p:txBody>
          <a:bodyPr wrap="none" rtlCol="0">
            <a:spAutoFit/>
          </a:bodyPr>
          <a:lstStyle/>
          <a:p>
            <a:r>
              <a:rPr lang="es-ES" dirty="0"/>
              <a:t>Proceso</a:t>
            </a:r>
            <a:endParaRPr lang="es-CO" dirty="0"/>
          </a:p>
        </p:txBody>
      </p:sp>
      <p:sp>
        <p:nvSpPr>
          <p:cNvPr id="9" name="Diagrama de flujo: documento 8">
            <a:extLst>
              <a:ext uri="{FF2B5EF4-FFF2-40B4-BE49-F238E27FC236}">
                <a16:creationId xmlns:a16="http://schemas.microsoft.com/office/drawing/2014/main" id="{3E625D68-D68B-4532-8F82-462827DECF3E}"/>
              </a:ext>
            </a:extLst>
          </p:cNvPr>
          <p:cNvSpPr/>
          <p:nvPr/>
        </p:nvSpPr>
        <p:spPr>
          <a:xfrm>
            <a:off x="7484423" y="827934"/>
            <a:ext cx="2247900" cy="1054100"/>
          </a:xfrm>
          <a:prstGeom prst="flowChartDocument">
            <a:avLst/>
          </a:prstGeom>
          <a:solidFill>
            <a:schemeClr val="accent1">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endParaRPr>
          </a:p>
        </p:txBody>
      </p:sp>
      <p:sp>
        <p:nvSpPr>
          <p:cNvPr id="10" name="CuadroTexto 9">
            <a:extLst>
              <a:ext uri="{FF2B5EF4-FFF2-40B4-BE49-F238E27FC236}">
                <a16:creationId xmlns:a16="http://schemas.microsoft.com/office/drawing/2014/main" id="{5770397C-5991-400C-944D-BDE3DF9AF045}"/>
              </a:ext>
            </a:extLst>
          </p:cNvPr>
          <p:cNvSpPr txBox="1"/>
          <p:nvPr/>
        </p:nvSpPr>
        <p:spPr>
          <a:xfrm>
            <a:off x="10027440" y="1047502"/>
            <a:ext cx="1099981" cy="369332"/>
          </a:xfrm>
          <a:prstGeom prst="rect">
            <a:avLst/>
          </a:prstGeom>
          <a:noFill/>
        </p:spPr>
        <p:txBody>
          <a:bodyPr wrap="none" rtlCol="0">
            <a:spAutoFit/>
          </a:bodyPr>
          <a:lstStyle/>
          <a:p>
            <a:r>
              <a:rPr lang="es-ES" dirty="0"/>
              <a:t>Escritura</a:t>
            </a:r>
            <a:endParaRPr lang="es-CO" dirty="0"/>
          </a:p>
        </p:txBody>
      </p:sp>
      <p:sp>
        <p:nvSpPr>
          <p:cNvPr id="11" name="Diagrama de flujo: decisión 10">
            <a:extLst>
              <a:ext uri="{FF2B5EF4-FFF2-40B4-BE49-F238E27FC236}">
                <a16:creationId xmlns:a16="http://schemas.microsoft.com/office/drawing/2014/main" id="{2C2B69EE-7079-43C1-B2F3-C57AC2F668DA}"/>
              </a:ext>
            </a:extLst>
          </p:cNvPr>
          <p:cNvSpPr/>
          <p:nvPr/>
        </p:nvSpPr>
        <p:spPr>
          <a:xfrm>
            <a:off x="7520971" y="2248642"/>
            <a:ext cx="1930400" cy="1752600"/>
          </a:xfrm>
          <a:prstGeom prst="flowChartDecision">
            <a:avLst/>
          </a:prstGeom>
          <a:solidFill>
            <a:schemeClr val="accent1">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CuadroTexto 12">
            <a:extLst>
              <a:ext uri="{FF2B5EF4-FFF2-40B4-BE49-F238E27FC236}">
                <a16:creationId xmlns:a16="http://schemas.microsoft.com/office/drawing/2014/main" id="{C83A982B-0628-4CD1-B0EE-FDF2382EC7F1}"/>
              </a:ext>
            </a:extLst>
          </p:cNvPr>
          <p:cNvSpPr txBox="1"/>
          <p:nvPr/>
        </p:nvSpPr>
        <p:spPr>
          <a:xfrm>
            <a:off x="9823580" y="2940276"/>
            <a:ext cx="1361270" cy="369332"/>
          </a:xfrm>
          <a:prstGeom prst="rect">
            <a:avLst/>
          </a:prstGeom>
          <a:noFill/>
        </p:spPr>
        <p:txBody>
          <a:bodyPr wrap="none" rtlCol="0">
            <a:spAutoFit/>
          </a:bodyPr>
          <a:lstStyle/>
          <a:p>
            <a:r>
              <a:rPr lang="es-ES" dirty="0"/>
              <a:t>condicional</a:t>
            </a:r>
            <a:endParaRPr lang="es-CO" dirty="0"/>
          </a:p>
        </p:txBody>
      </p:sp>
    </p:spTree>
    <p:extLst>
      <p:ext uri="{BB962C8B-B14F-4D97-AF65-F5344CB8AC3E}">
        <p14:creationId xmlns:p14="http://schemas.microsoft.com/office/powerpoint/2010/main" val="2914700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F110E343-82F9-44B3-99A5-7B9EBCD00FF3}"/>
              </a:ext>
            </a:extLst>
          </p:cNvPr>
          <p:cNvSpPr>
            <a:spLocks noGrp="1"/>
          </p:cNvSpPr>
          <p:nvPr>
            <p:ph type="sldNum" sz="quarter" idx="12"/>
          </p:nvPr>
        </p:nvSpPr>
        <p:spPr/>
        <p:txBody>
          <a:bodyPr/>
          <a:lstStyle/>
          <a:p>
            <a:fld id="{8BFEBA87-C0CD-434A-9521-31AFCAE6F9CF}" type="slidenum">
              <a:rPr lang="es-CO" smtClean="0"/>
              <a:t>18</a:t>
            </a:fld>
            <a:endParaRPr lang="es-CO"/>
          </a:p>
        </p:txBody>
      </p:sp>
      <p:grpSp>
        <p:nvGrpSpPr>
          <p:cNvPr id="10" name="Grupo 9">
            <a:extLst>
              <a:ext uri="{FF2B5EF4-FFF2-40B4-BE49-F238E27FC236}">
                <a16:creationId xmlns:a16="http://schemas.microsoft.com/office/drawing/2014/main" id="{08665388-BEC3-4CF1-8F2C-915E3560029E}"/>
              </a:ext>
            </a:extLst>
          </p:cNvPr>
          <p:cNvGrpSpPr/>
          <p:nvPr/>
        </p:nvGrpSpPr>
        <p:grpSpPr>
          <a:xfrm>
            <a:off x="5003800" y="939879"/>
            <a:ext cx="5994400" cy="3778172"/>
            <a:chOff x="5003800" y="939879"/>
            <a:chExt cx="5994400" cy="3778172"/>
          </a:xfrm>
        </p:grpSpPr>
        <p:sp>
          <p:nvSpPr>
            <p:cNvPr id="3" name="Diagrama de flujo: decisión 2">
              <a:extLst>
                <a:ext uri="{FF2B5EF4-FFF2-40B4-BE49-F238E27FC236}">
                  <a16:creationId xmlns:a16="http://schemas.microsoft.com/office/drawing/2014/main" id="{D821175F-F7CF-4F52-899E-21EBB4A31435}"/>
                </a:ext>
              </a:extLst>
            </p:cNvPr>
            <p:cNvSpPr/>
            <p:nvPr/>
          </p:nvSpPr>
          <p:spPr>
            <a:xfrm>
              <a:off x="5003800" y="939879"/>
              <a:ext cx="2921000" cy="2063750"/>
            </a:xfrm>
            <a:prstGeom prst="flowChartDecision">
              <a:avLst/>
            </a:prstGeom>
            <a:solidFill>
              <a:schemeClr val="tx2">
                <a:lumMod val="25000"/>
                <a:lumOff val="75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Promedio&gt;60</a:t>
              </a:r>
              <a:endParaRPr lang="es-CO" b="1" dirty="0">
                <a:solidFill>
                  <a:schemeClr val="tx1"/>
                </a:solidFill>
              </a:endParaRPr>
            </a:p>
          </p:txBody>
        </p:sp>
        <p:sp>
          <p:nvSpPr>
            <p:cNvPr id="4" name="Diagrama de flujo: proceso 3">
              <a:extLst>
                <a:ext uri="{FF2B5EF4-FFF2-40B4-BE49-F238E27FC236}">
                  <a16:creationId xmlns:a16="http://schemas.microsoft.com/office/drawing/2014/main" id="{C626B804-0B09-419A-AB3A-BECC71F9863E}"/>
                </a:ext>
              </a:extLst>
            </p:cNvPr>
            <p:cNvSpPr/>
            <p:nvPr/>
          </p:nvSpPr>
          <p:spPr>
            <a:xfrm>
              <a:off x="5257800" y="3663951"/>
              <a:ext cx="2413000" cy="1054100"/>
            </a:xfrm>
            <a:prstGeom prst="flowChartProcess">
              <a:avLst/>
            </a:prstGeom>
            <a:solidFill>
              <a:schemeClr val="tx2">
                <a:lumMod val="25000"/>
                <a:lumOff val="75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Estado=“No Aprobado”</a:t>
              </a:r>
              <a:endParaRPr lang="es-CO" b="1" dirty="0">
                <a:solidFill>
                  <a:schemeClr val="tx1"/>
                </a:solidFill>
              </a:endParaRPr>
            </a:p>
            <a:p>
              <a:pPr algn="ctr"/>
              <a:endParaRPr lang="es-CO" dirty="0"/>
            </a:p>
          </p:txBody>
        </p:sp>
        <p:sp>
          <p:nvSpPr>
            <p:cNvPr id="5" name="Diagrama de flujo: proceso 4">
              <a:extLst>
                <a:ext uri="{FF2B5EF4-FFF2-40B4-BE49-F238E27FC236}">
                  <a16:creationId xmlns:a16="http://schemas.microsoft.com/office/drawing/2014/main" id="{35B048FF-59E0-45DA-B441-9F0F08BDEEF2}"/>
                </a:ext>
              </a:extLst>
            </p:cNvPr>
            <p:cNvSpPr/>
            <p:nvPr/>
          </p:nvSpPr>
          <p:spPr>
            <a:xfrm>
              <a:off x="8585200" y="1527175"/>
              <a:ext cx="2413000" cy="1054100"/>
            </a:xfrm>
            <a:prstGeom prst="flowChartProcess">
              <a:avLst/>
            </a:prstGeom>
            <a:solidFill>
              <a:schemeClr val="tx2">
                <a:lumMod val="25000"/>
                <a:lumOff val="75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Estado=“Aprobado”</a:t>
              </a:r>
              <a:endParaRPr lang="es-CO" b="1" dirty="0">
                <a:solidFill>
                  <a:schemeClr val="tx1"/>
                </a:solidFill>
              </a:endParaRPr>
            </a:p>
          </p:txBody>
        </p:sp>
        <p:cxnSp>
          <p:nvCxnSpPr>
            <p:cNvPr id="6" name="Conector recto de flecha 5">
              <a:extLst>
                <a:ext uri="{FF2B5EF4-FFF2-40B4-BE49-F238E27FC236}">
                  <a16:creationId xmlns:a16="http://schemas.microsoft.com/office/drawing/2014/main" id="{3E111878-064F-43CF-8639-A77BD94D4926}"/>
                </a:ext>
              </a:extLst>
            </p:cNvPr>
            <p:cNvCxnSpPr>
              <a:stCxn id="3" idx="3"/>
            </p:cNvCxnSpPr>
            <p:nvPr/>
          </p:nvCxnSpPr>
          <p:spPr>
            <a:xfrm>
              <a:off x="7924800" y="1971754"/>
              <a:ext cx="660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3F3F1FD5-A6B0-497A-A811-7287440E8A89}"/>
                </a:ext>
              </a:extLst>
            </p:cNvPr>
            <p:cNvCxnSpPr>
              <a:stCxn id="3" idx="2"/>
              <a:endCxn id="4" idx="0"/>
            </p:cNvCxnSpPr>
            <p:nvPr/>
          </p:nvCxnSpPr>
          <p:spPr>
            <a:xfrm>
              <a:off x="6464300" y="3003629"/>
              <a:ext cx="0" cy="6603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152C328C-FC98-46A0-A34D-7B0A7691B0C7}"/>
                </a:ext>
              </a:extLst>
            </p:cNvPr>
            <p:cNvSpPr txBox="1"/>
            <p:nvPr/>
          </p:nvSpPr>
          <p:spPr>
            <a:xfrm>
              <a:off x="7927666" y="1684893"/>
              <a:ext cx="349776" cy="400110"/>
            </a:xfrm>
            <a:prstGeom prst="rect">
              <a:avLst/>
            </a:prstGeom>
            <a:noFill/>
          </p:spPr>
          <p:txBody>
            <a:bodyPr wrap="none" rtlCol="0">
              <a:spAutoFit/>
            </a:bodyPr>
            <a:lstStyle/>
            <a:p>
              <a:r>
                <a:rPr lang="es-ES" sz="2000" b="1" dirty="0"/>
                <a:t>si</a:t>
              </a:r>
              <a:endParaRPr lang="es-CO" sz="2000" b="1" dirty="0"/>
            </a:p>
          </p:txBody>
        </p:sp>
        <p:sp>
          <p:nvSpPr>
            <p:cNvPr id="9" name="CuadroTexto 8">
              <a:extLst>
                <a:ext uri="{FF2B5EF4-FFF2-40B4-BE49-F238E27FC236}">
                  <a16:creationId xmlns:a16="http://schemas.microsoft.com/office/drawing/2014/main" id="{500DFDBC-6267-40E8-A05D-2816B707AACF}"/>
                </a:ext>
              </a:extLst>
            </p:cNvPr>
            <p:cNvSpPr txBox="1"/>
            <p:nvPr/>
          </p:nvSpPr>
          <p:spPr>
            <a:xfrm>
              <a:off x="6542886" y="2957036"/>
              <a:ext cx="460382" cy="400110"/>
            </a:xfrm>
            <a:prstGeom prst="rect">
              <a:avLst/>
            </a:prstGeom>
            <a:noFill/>
          </p:spPr>
          <p:txBody>
            <a:bodyPr wrap="none" rtlCol="0">
              <a:spAutoFit/>
            </a:bodyPr>
            <a:lstStyle/>
            <a:p>
              <a:r>
                <a:rPr lang="es-ES" sz="2000" b="1" dirty="0"/>
                <a:t>no</a:t>
              </a:r>
              <a:endParaRPr lang="es-CO" sz="2000" b="1" dirty="0"/>
            </a:p>
          </p:txBody>
        </p:sp>
      </p:grpSp>
    </p:spTree>
    <p:extLst>
      <p:ext uri="{BB962C8B-B14F-4D97-AF65-F5344CB8AC3E}">
        <p14:creationId xmlns:p14="http://schemas.microsoft.com/office/powerpoint/2010/main" val="3722849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0F058818-2344-C8B8-5689-02CBC904AAD2}"/>
              </a:ext>
            </a:extLst>
          </p:cNvPr>
          <p:cNvPicPr>
            <a:picLocks noChangeAspect="1"/>
          </p:cNvPicPr>
          <p:nvPr/>
        </p:nvPicPr>
        <p:blipFill>
          <a:blip r:embed="rId2"/>
          <a:stretch>
            <a:fillRect/>
          </a:stretch>
        </p:blipFill>
        <p:spPr>
          <a:xfrm>
            <a:off x="7729394" y="586961"/>
            <a:ext cx="3882159" cy="832539"/>
          </a:xfrm>
          <a:prstGeom prst="rect">
            <a:avLst/>
          </a:prstGeom>
        </p:spPr>
      </p:pic>
      <p:pic>
        <p:nvPicPr>
          <p:cNvPr id="3" name="Imagen 2">
            <a:extLst>
              <a:ext uri="{FF2B5EF4-FFF2-40B4-BE49-F238E27FC236}">
                <a16:creationId xmlns:a16="http://schemas.microsoft.com/office/drawing/2014/main" id="{6266E569-8F02-7F44-24E2-D5CBC33E97B5}"/>
              </a:ext>
            </a:extLst>
          </p:cNvPr>
          <p:cNvPicPr>
            <a:picLocks noChangeAspect="1"/>
          </p:cNvPicPr>
          <p:nvPr/>
        </p:nvPicPr>
        <p:blipFill>
          <a:blip r:embed="rId3"/>
          <a:stretch>
            <a:fillRect/>
          </a:stretch>
        </p:blipFill>
        <p:spPr>
          <a:xfrm>
            <a:off x="-84236" y="1645922"/>
            <a:ext cx="6714126" cy="5376758"/>
          </a:xfrm>
          <a:prstGeom prst="rect">
            <a:avLst/>
          </a:prstGeom>
        </p:spPr>
      </p:pic>
      <p:graphicFrame>
        <p:nvGraphicFramePr>
          <p:cNvPr id="4" name="Tabla 3">
            <a:extLst>
              <a:ext uri="{FF2B5EF4-FFF2-40B4-BE49-F238E27FC236}">
                <a16:creationId xmlns:a16="http://schemas.microsoft.com/office/drawing/2014/main" id="{8B83E0A5-1047-1504-F1FA-90875A7D650D}"/>
              </a:ext>
            </a:extLst>
          </p:cNvPr>
          <p:cNvGraphicFramePr>
            <a:graphicFrameLocks noGrp="1"/>
          </p:cNvGraphicFramePr>
          <p:nvPr>
            <p:extLst>
              <p:ext uri="{D42A27DB-BD31-4B8C-83A1-F6EECF244321}">
                <p14:modId xmlns:p14="http://schemas.microsoft.com/office/powerpoint/2010/main" val="2884841200"/>
              </p:ext>
            </p:extLst>
          </p:nvPr>
        </p:nvGraphicFramePr>
        <p:xfrm>
          <a:off x="4484823" y="2146751"/>
          <a:ext cx="7126730" cy="701040"/>
        </p:xfrm>
        <a:graphic>
          <a:graphicData uri="http://schemas.openxmlformats.org/drawingml/2006/table">
            <a:tbl>
              <a:tblPr/>
              <a:tblGrid>
                <a:gridCol w="7126730">
                  <a:extLst>
                    <a:ext uri="{9D8B030D-6E8A-4147-A177-3AD203B41FA5}">
                      <a16:colId xmlns:a16="http://schemas.microsoft.com/office/drawing/2014/main" val="4106483839"/>
                    </a:ext>
                  </a:extLst>
                </a:gridCol>
              </a:tblGrid>
              <a:tr h="491068">
                <a:tc>
                  <a:txBody>
                    <a:bodyPr/>
                    <a:lstStyle/>
                    <a:p>
                      <a:pPr algn="r"/>
                      <a:r>
                        <a:rPr lang="es-US" sz="4000" b="1" err="1">
                          <a:solidFill>
                            <a:schemeClr val="bg1"/>
                          </a:solidFill>
                          <a:effectLst/>
                          <a:latin typeface="+mj-lt"/>
                        </a:rPr>
                        <a:t>www.universidadean.edu.co</a:t>
                      </a:r>
                      <a:endParaRPr lang="es-US" sz="4000" b="1">
                        <a:solidFill>
                          <a:schemeClr val="bg1"/>
                        </a:solidFill>
                        <a:effectLst/>
                        <a:latin typeface="+mj-lt"/>
                      </a:endParaRPr>
                    </a:p>
                  </a:txBody>
                  <a:tcPr anchor="ctr">
                    <a:lnL>
                      <a:noFill/>
                    </a:lnL>
                    <a:lnR>
                      <a:noFill/>
                    </a:lnR>
                    <a:lnT>
                      <a:noFill/>
                    </a:lnT>
                    <a:lnB>
                      <a:noFill/>
                    </a:lnB>
                    <a:noFill/>
                  </a:tcPr>
                </a:tc>
                <a:extLst>
                  <a:ext uri="{0D108BD9-81ED-4DB2-BD59-A6C34878D82A}">
                    <a16:rowId xmlns:a16="http://schemas.microsoft.com/office/drawing/2014/main" val="1931720614"/>
                  </a:ext>
                </a:extLst>
              </a:tr>
            </a:tbl>
          </a:graphicData>
        </a:graphic>
      </p:graphicFrame>
      <p:sp>
        <p:nvSpPr>
          <p:cNvPr id="5" name="CuadroTexto 4">
            <a:extLst>
              <a:ext uri="{FF2B5EF4-FFF2-40B4-BE49-F238E27FC236}">
                <a16:creationId xmlns:a16="http://schemas.microsoft.com/office/drawing/2014/main" id="{3A5F270D-F7C4-184E-36A3-012D843158BB}"/>
              </a:ext>
            </a:extLst>
          </p:cNvPr>
          <p:cNvSpPr txBox="1"/>
          <p:nvPr/>
        </p:nvSpPr>
        <p:spPr>
          <a:xfrm>
            <a:off x="6408612" y="4187015"/>
            <a:ext cx="4976418" cy="1107996"/>
          </a:xfrm>
          <a:prstGeom prst="rect">
            <a:avLst/>
          </a:prstGeom>
          <a:noFill/>
        </p:spPr>
        <p:txBody>
          <a:bodyPr wrap="square" rtlCol="0">
            <a:spAutoFit/>
          </a:bodyPr>
          <a:lstStyle/>
          <a:p>
            <a:pPr algn="r"/>
            <a:r>
              <a:rPr lang="es-ES" sz="1100" err="1">
                <a:ln w="6350">
                  <a:noFill/>
                </a:ln>
                <a:solidFill>
                  <a:schemeClr val="bg1"/>
                </a:solidFill>
                <a:ea typeface="Open Sans" panose="020B0606030504020204" pitchFamily="34" charset="0"/>
                <a:cs typeface="Open Sans" panose="020B0606030504020204" pitchFamily="34" charset="0"/>
              </a:rPr>
              <a:t>Ean</a:t>
            </a:r>
            <a:r>
              <a:rPr lang="es-ES" sz="1100">
                <a:ln w="6350">
                  <a:noFill/>
                </a:ln>
                <a:solidFill>
                  <a:schemeClr val="bg1"/>
                </a:solidFill>
                <a:ea typeface="Open Sans" panose="020B0606030504020204" pitchFamily="34" charset="0"/>
                <a:cs typeface="Open Sans" panose="020B0606030504020204" pitchFamily="34" charset="0"/>
              </a:rPr>
              <a:t> </a:t>
            </a:r>
            <a:r>
              <a:rPr lang="es-ES" sz="1100" err="1">
                <a:ln w="6350">
                  <a:noFill/>
                </a:ln>
                <a:solidFill>
                  <a:schemeClr val="bg1"/>
                </a:solidFill>
                <a:ea typeface="Open Sans" panose="020B0606030504020204" pitchFamily="34" charset="0"/>
                <a:cs typeface="Open Sans" panose="020B0606030504020204" pitchFamily="34" charset="0"/>
              </a:rPr>
              <a:t>Legacy</a:t>
            </a:r>
            <a:r>
              <a:rPr lang="es-ES" sz="1100">
                <a:ln w="6350">
                  <a:noFill/>
                </a:ln>
                <a:solidFill>
                  <a:schemeClr val="bg1"/>
                </a:solidFill>
                <a:ea typeface="Open Sans" panose="020B0606030504020204" pitchFamily="34" charset="0"/>
                <a:cs typeface="Open Sans" panose="020B0606030504020204" pitchFamily="34" charset="0"/>
              </a:rPr>
              <a:t>: Carrera 11 No. 78-47 - Fundadores: Calle 79 # 11 - 45 - Av. Chile: Calle 71 # 9 - 84 Bogotá D.C., Cundinamarca, Colombia, Suramérica.</a:t>
            </a:r>
          </a:p>
          <a:p>
            <a:pPr algn="r"/>
            <a:endParaRPr lang="es-ES" sz="1100">
              <a:ln w="6350">
                <a:noFill/>
              </a:ln>
              <a:solidFill>
                <a:schemeClr val="bg1"/>
              </a:solidFill>
              <a:ea typeface="Open Sans" panose="020B0606030504020204" pitchFamily="34" charset="0"/>
              <a:cs typeface="Open Sans" panose="020B0606030504020204" pitchFamily="34" charset="0"/>
            </a:endParaRPr>
          </a:p>
          <a:p>
            <a:pPr algn="r"/>
            <a:r>
              <a:rPr lang="es-ES" sz="1100">
                <a:ln w="6350">
                  <a:noFill/>
                </a:ln>
                <a:solidFill>
                  <a:schemeClr val="bg1"/>
                </a:solidFill>
                <a:ea typeface="Open Sans" panose="020B0606030504020204" pitchFamily="34" charset="0"/>
                <a:cs typeface="Open Sans" panose="020B0606030504020204" pitchFamily="34" charset="0"/>
              </a:rPr>
              <a:t>Línea gratuita nacional: +57-01-8000-931000</a:t>
            </a:r>
          </a:p>
          <a:p>
            <a:pPr algn="r"/>
            <a:r>
              <a:rPr lang="es-ES" sz="1100">
                <a:ln w="6350">
                  <a:noFill/>
                </a:ln>
                <a:solidFill>
                  <a:schemeClr val="bg1"/>
                </a:solidFill>
                <a:ea typeface="Open Sans" panose="020B0606030504020204" pitchFamily="34" charset="0"/>
                <a:cs typeface="Open Sans" panose="020B0606030504020204" pitchFamily="34" charset="0"/>
              </a:rPr>
              <a:t>Centro de contacto en Bogotá: +(57-601) 593 6161 - +(57-601) 593 6464</a:t>
            </a:r>
          </a:p>
          <a:p>
            <a:pPr algn="r"/>
            <a:r>
              <a:rPr lang="es-ES" sz="1100">
                <a:ln w="6350">
                  <a:noFill/>
                </a:ln>
                <a:solidFill>
                  <a:schemeClr val="bg1"/>
                </a:solidFill>
                <a:ea typeface="Open Sans" panose="020B0606030504020204" pitchFamily="34" charset="0"/>
                <a:cs typeface="Open Sans" panose="020B0606030504020204" pitchFamily="34" charset="0"/>
              </a:rPr>
              <a:t>E-mail: </a:t>
            </a:r>
            <a:r>
              <a:rPr lang="es-ES" sz="1100" err="1">
                <a:ln w="6350">
                  <a:noFill/>
                </a:ln>
                <a:solidFill>
                  <a:schemeClr val="bg1"/>
                </a:solidFill>
                <a:ea typeface="Open Sans" panose="020B0606030504020204" pitchFamily="34" charset="0"/>
                <a:cs typeface="Open Sans" panose="020B0606030504020204" pitchFamily="34" charset="0"/>
              </a:rPr>
              <a:t>informacion@universidadean.edu.co</a:t>
            </a:r>
            <a:endParaRPr lang="es-ES" sz="1100">
              <a:ln w="6350">
                <a:noFill/>
              </a:ln>
              <a:solidFill>
                <a:schemeClr val="bg1"/>
              </a:solidFill>
              <a:ea typeface="Open Sans" panose="020B0606030504020204" pitchFamily="34" charset="0"/>
              <a:cs typeface="Open Sans" panose="020B0606030504020204" pitchFamily="34" charset="0"/>
            </a:endParaRPr>
          </a:p>
        </p:txBody>
      </p:sp>
      <p:sp>
        <p:nvSpPr>
          <p:cNvPr id="6" name="CuadroTexto 5">
            <a:extLst>
              <a:ext uri="{FF2B5EF4-FFF2-40B4-BE49-F238E27FC236}">
                <a16:creationId xmlns:a16="http://schemas.microsoft.com/office/drawing/2014/main" id="{5451D01D-800C-0129-A270-8DEB8DF34EFC}"/>
              </a:ext>
            </a:extLst>
          </p:cNvPr>
          <p:cNvSpPr txBox="1"/>
          <p:nvPr/>
        </p:nvSpPr>
        <p:spPr>
          <a:xfrm>
            <a:off x="7987539" y="5567915"/>
            <a:ext cx="3394836" cy="246221"/>
          </a:xfrm>
          <a:prstGeom prst="rect">
            <a:avLst/>
          </a:prstGeom>
          <a:noFill/>
        </p:spPr>
        <p:txBody>
          <a:bodyPr wrap="square" rtlCol="0">
            <a:spAutoFit/>
          </a:bodyPr>
          <a:lstStyle/>
          <a:p>
            <a:r>
              <a:rPr lang="es-US" sz="1000">
                <a:solidFill>
                  <a:schemeClr val="bg1"/>
                </a:solidFill>
                <a:latin typeface="Trebuchet MS" panose="020B0703020202090204" pitchFamily="34" charset="0"/>
              </a:rPr>
              <a:t>© 2024 Todos los derechos reservados - Universidad </a:t>
            </a:r>
            <a:r>
              <a:rPr lang="es-US" sz="1000" err="1">
                <a:solidFill>
                  <a:schemeClr val="bg1"/>
                </a:solidFill>
                <a:latin typeface="Trebuchet MS" panose="020B0703020202090204" pitchFamily="34" charset="0"/>
              </a:rPr>
              <a:t>Ean</a:t>
            </a:r>
            <a:endParaRPr lang="es-US" sz="1000">
              <a:solidFill>
                <a:schemeClr val="bg1"/>
              </a:solidFill>
            </a:endParaRPr>
          </a:p>
        </p:txBody>
      </p:sp>
      <p:sp>
        <p:nvSpPr>
          <p:cNvPr id="8" name="CuadroTexto 7">
            <a:extLst>
              <a:ext uri="{FF2B5EF4-FFF2-40B4-BE49-F238E27FC236}">
                <a16:creationId xmlns:a16="http://schemas.microsoft.com/office/drawing/2014/main" id="{BEE320B1-953E-302A-7109-2AF991E03236}"/>
              </a:ext>
            </a:extLst>
          </p:cNvPr>
          <p:cNvSpPr txBox="1"/>
          <p:nvPr/>
        </p:nvSpPr>
        <p:spPr>
          <a:xfrm>
            <a:off x="5553185" y="3326685"/>
            <a:ext cx="6148316" cy="584775"/>
          </a:xfrm>
          <a:prstGeom prst="rect">
            <a:avLst/>
          </a:prstGeom>
          <a:noFill/>
        </p:spPr>
        <p:txBody>
          <a:bodyPr wrap="square">
            <a:spAutoFit/>
          </a:bodyPr>
          <a:lstStyle/>
          <a:p>
            <a:pPr algn="r"/>
            <a:r>
              <a:rPr lang="es-ES" sz="1600">
                <a:ln w="6350">
                  <a:noFill/>
                </a:ln>
                <a:solidFill>
                  <a:schemeClr val="bg1"/>
                </a:solidFill>
                <a:ea typeface="Open Sans" panose="020B0606030504020204" pitchFamily="34" charset="0"/>
                <a:cs typeface="Open Sans" panose="020B0606030504020204" pitchFamily="34" charset="0"/>
              </a:rPr>
              <a:t>Universidad </a:t>
            </a:r>
            <a:r>
              <a:rPr lang="es-ES" sz="1600" err="1">
                <a:ln w="6350">
                  <a:noFill/>
                </a:ln>
                <a:solidFill>
                  <a:schemeClr val="bg1"/>
                </a:solidFill>
                <a:ea typeface="Open Sans" panose="020B0606030504020204" pitchFamily="34" charset="0"/>
                <a:cs typeface="Open Sans" panose="020B0606030504020204" pitchFamily="34" charset="0"/>
              </a:rPr>
              <a:t>Ean</a:t>
            </a:r>
            <a:r>
              <a:rPr lang="es-ES" sz="1600">
                <a:ln w="6350">
                  <a:noFill/>
                </a:ln>
                <a:solidFill>
                  <a:schemeClr val="bg1"/>
                </a:solidFill>
                <a:ea typeface="Open Sans" panose="020B0606030504020204" pitchFamily="34" charset="0"/>
                <a:cs typeface="Open Sans" panose="020B0606030504020204" pitchFamily="34" charset="0"/>
              </a:rPr>
              <a:t>: SNIES 2812 Personería Jurídica Res. 2898 del </a:t>
            </a:r>
            <a:r>
              <a:rPr lang="es-ES" sz="1600" err="1">
                <a:ln w="6350">
                  <a:noFill/>
                </a:ln>
                <a:solidFill>
                  <a:schemeClr val="bg1"/>
                </a:solidFill>
                <a:ea typeface="Open Sans" panose="020B0606030504020204" pitchFamily="34" charset="0"/>
                <a:cs typeface="Open Sans" panose="020B0606030504020204" pitchFamily="34" charset="0"/>
              </a:rPr>
              <a:t>Minjusticia</a:t>
            </a:r>
            <a:r>
              <a:rPr lang="es-ES" sz="1600">
                <a:ln w="6350">
                  <a:noFill/>
                </a:ln>
                <a:solidFill>
                  <a:schemeClr val="bg1"/>
                </a:solidFill>
                <a:ea typeface="Open Sans" panose="020B0606030504020204" pitchFamily="34" charset="0"/>
                <a:cs typeface="Open Sans" panose="020B0606030504020204" pitchFamily="34" charset="0"/>
              </a:rPr>
              <a:t> - 16/05/69 - Vigilada </a:t>
            </a:r>
            <a:r>
              <a:rPr lang="es-ES" sz="1600" err="1">
                <a:ln w="6350">
                  <a:noFill/>
                </a:ln>
                <a:solidFill>
                  <a:schemeClr val="bg1"/>
                </a:solidFill>
                <a:ea typeface="Open Sans" panose="020B0606030504020204" pitchFamily="34" charset="0"/>
                <a:cs typeface="Open Sans" panose="020B0606030504020204" pitchFamily="34" charset="0"/>
              </a:rPr>
              <a:t>Mineducación</a:t>
            </a:r>
            <a:r>
              <a:rPr lang="es-ES" sz="1600">
                <a:ln w="6350">
                  <a:noFill/>
                </a:ln>
                <a:solidFill>
                  <a:schemeClr val="bg1"/>
                </a:solidFill>
                <a:ea typeface="Open Sans" panose="020B0606030504020204" pitchFamily="34" charset="0"/>
                <a:cs typeface="Open Sans" panose="020B0606030504020204" pitchFamily="34" charset="0"/>
              </a:rPr>
              <a:t>.</a:t>
            </a:r>
          </a:p>
        </p:txBody>
      </p:sp>
      <p:sp>
        <p:nvSpPr>
          <p:cNvPr id="12" name="Round Diagonal Corner of Rectangle 18">
            <a:extLst>
              <a:ext uri="{FF2B5EF4-FFF2-40B4-BE49-F238E27FC236}">
                <a16:creationId xmlns:a16="http://schemas.microsoft.com/office/drawing/2014/main" id="{EF225244-A5C9-78E6-CB12-E0B4F46DA020}"/>
              </a:ext>
            </a:extLst>
          </p:cNvPr>
          <p:cNvSpPr/>
          <p:nvPr/>
        </p:nvSpPr>
        <p:spPr>
          <a:xfrm flipH="1">
            <a:off x="6092141" y="4010210"/>
            <a:ext cx="5609360" cy="1461607"/>
          </a:xfrm>
          <a:prstGeom prst="round2DiagRect">
            <a:avLst>
              <a:gd name="adj1" fmla="val 43213"/>
              <a:gd name="adj2" fmla="val 0"/>
            </a:avLst>
          </a:prstGeom>
          <a:no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0559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9347BC5-A247-7156-25FE-C36C57BD5146}"/>
              </a:ext>
            </a:extLst>
          </p:cNvPr>
          <p:cNvSpPr/>
          <p:nvPr/>
        </p:nvSpPr>
        <p:spPr>
          <a:xfrm>
            <a:off x="7596226" y="0"/>
            <a:ext cx="4595773"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pic>
        <p:nvPicPr>
          <p:cNvPr id="4" name="Imagen 3">
            <a:extLst>
              <a:ext uri="{FF2B5EF4-FFF2-40B4-BE49-F238E27FC236}">
                <a16:creationId xmlns:a16="http://schemas.microsoft.com/office/drawing/2014/main" id="{2335B111-4D91-5340-2CE6-ACF859A2E00C}"/>
              </a:ext>
            </a:extLst>
          </p:cNvPr>
          <p:cNvPicPr>
            <a:picLocks noChangeAspect="1"/>
          </p:cNvPicPr>
          <p:nvPr/>
        </p:nvPicPr>
        <p:blipFill>
          <a:blip r:embed="rId3"/>
          <a:stretch>
            <a:fillRect/>
          </a:stretch>
        </p:blipFill>
        <p:spPr>
          <a:xfrm>
            <a:off x="8183441" y="590224"/>
            <a:ext cx="3004456" cy="644312"/>
          </a:xfrm>
          <a:prstGeom prst="rect">
            <a:avLst/>
          </a:prstGeom>
        </p:spPr>
      </p:pic>
      <p:pic>
        <p:nvPicPr>
          <p:cNvPr id="8" name="Imagen 7">
            <a:extLst>
              <a:ext uri="{FF2B5EF4-FFF2-40B4-BE49-F238E27FC236}">
                <a16:creationId xmlns:a16="http://schemas.microsoft.com/office/drawing/2014/main" id="{C0F7D518-E007-5636-78DA-E62CD0FD65D4}"/>
              </a:ext>
            </a:extLst>
          </p:cNvPr>
          <p:cNvPicPr>
            <a:picLocks noChangeAspect="1"/>
          </p:cNvPicPr>
          <p:nvPr/>
        </p:nvPicPr>
        <p:blipFill>
          <a:blip r:embed="rId4"/>
          <a:stretch>
            <a:fillRect/>
          </a:stretch>
        </p:blipFill>
        <p:spPr>
          <a:xfrm>
            <a:off x="8323438" y="1928589"/>
            <a:ext cx="2364476" cy="384515"/>
          </a:xfrm>
          <a:prstGeom prst="rect">
            <a:avLst/>
          </a:prstGeom>
        </p:spPr>
      </p:pic>
      <p:pic>
        <p:nvPicPr>
          <p:cNvPr id="10" name="Imagen 9">
            <a:extLst>
              <a:ext uri="{FF2B5EF4-FFF2-40B4-BE49-F238E27FC236}">
                <a16:creationId xmlns:a16="http://schemas.microsoft.com/office/drawing/2014/main" id="{2667F30D-6CE7-8668-094E-C5C7C508630D}"/>
              </a:ext>
            </a:extLst>
          </p:cNvPr>
          <p:cNvPicPr>
            <a:picLocks noChangeAspect="1"/>
          </p:cNvPicPr>
          <p:nvPr/>
        </p:nvPicPr>
        <p:blipFill>
          <a:blip r:embed="rId5"/>
          <a:stretch>
            <a:fillRect/>
          </a:stretch>
        </p:blipFill>
        <p:spPr>
          <a:xfrm>
            <a:off x="8323439" y="3408574"/>
            <a:ext cx="2459462" cy="385460"/>
          </a:xfrm>
          <a:prstGeom prst="rect">
            <a:avLst/>
          </a:prstGeom>
        </p:spPr>
      </p:pic>
      <p:pic>
        <p:nvPicPr>
          <p:cNvPr id="14" name="Imagen 13">
            <a:extLst>
              <a:ext uri="{FF2B5EF4-FFF2-40B4-BE49-F238E27FC236}">
                <a16:creationId xmlns:a16="http://schemas.microsoft.com/office/drawing/2014/main" id="{8DB08BC7-9F10-F49F-5FE9-7054B2A40EB7}"/>
              </a:ext>
            </a:extLst>
          </p:cNvPr>
          <p:cNvPicPr>
            <a:picLocks noChangeAspect="1"/>
          </p:cNvPicPr>
          <p:nvPr/>
        </p:nvPicPr>
        <p:blipFill>
          <a:blip r:embed="rId6"/>
          <a:stretch>
            <a:fillRect/>
          </a:stretch>
        </p:blipFill>
        <p:spPr>
          <a:xfrm>
            <a:off x="8323438" y="4251696"/>
            <a:ext cx="2459458" cy="390946"/>
          </a:xfrm>
          <a:prstGeom prst="rect">
            <a:avLst/>
          </a:prstGeom>
        </p:spPr>
      </p:pic>
      <p:pic>
        <p:nvPicPr>
          <p:cNvPr id="16" name="Imagen 15">
            <a:extLst>
              <a:ext uri="{FF2B5EF4-FFF2-40B4-BE49-F238E27FC236}">
                <a16:creationId xmlns:a16="http://schemas.microsoft.com/office/drawing/2014/main" id="{DA329561-8455-AA39-77AE-B4F07404FD3A}"/>
              </a:ext>
            </a:extLst>
          </p:cNvPr>
          <p:cNvPicPr>
            <a:picLocks noChangeAspect="1"/>
          </p:cNvPicPr>
          <p:nvPr/>
        </p:nvPicPr>
        <p:blipFill>
          <a:blip r:embed="rId7"/>
          <a:stretch>
            <a:fillRect/>
          </a:stretch>
        </p:blipFill>
        <p:spPr>
          <a:xfrm>
            <a:off x="8372063" y="5888316"/>
            <a:ext cx="2267225" cy="445457"/>
          </a:xfrm>
          <a:prstGeom prst="rect">
            <a:avLst/>
          </a:prstGeom>
        </p:spPr>
      </p:pic>
      <p:pic>
        <p:nvPicPr>
          <p:cNvPr id="21" name="Imagen 20">
            <a:extLst>
              <a:ext uri="{FF2B5EF4-FFF2-40B4-BE49-F238E27FC236}">
                <a16:creationId xmlns:a16="http://schemas.microsoft.com/office/drawing/2014/main" id="{0FD8CBC9-0B08-28BA-2FB3-EC295908DCC1}"/>
              </a:ext>
            </a:extLst>
          </p:cNvPr>
          <p:cNvPicPr>
            <a:picLocks noChangeAspect="1"/>
          </p:cNvPicPr>
          <p:nvPr/>
        </p:nvPicPr>
        <p:blipFill>
          <a:blip r:embed="rId8"/>
          <a:stretch>
            <a:fillRect/>
          </a:stretch>
        </p:blipFill>
        <p:spPr>
          <a:xfrm>
            <a:off x="3856797" y="552290"/>
            <a:ext cx="2815401" cy="603768"/>
          </a:xfrm>
          <a:prstGeom prst="rect">
            <a:avLst/>
          </a:prstGeom>
        </p:spPr>
      </p:pic>
      <p:pic>
        <p:nvPicPr>
          <p:cNvPr id="25" name="Imagen 24">
            <a:extLst>
              <a:ext uri="{FF2B5EF4-FFF2-40B4-BE49-F238E27FC236}">
                <a16:creationId xmlns:a16="http://schemas.microsoft.com/office/drawing/2014/main" id="{2A0B4D28-7887-91A5-E29E-2F31E662F70D}"/>
              </a:ext>
            </a:extLst>
          </p:cNvPr>
          <p:cNvPicPr>
            <a:picLocks noChangeAspect="1"/>
          </p:cNvPicPr>
          <p:nvPr/>
        </p:nvPicPr>
        <p:blipFill>
          <a:blip r:embed="rId9"/>
          <a:stretch>
            <a:fillRect/>
          </a:stretch>
        </p:blipFill>
        <p:spPr>
          <a:xfrm>
            <a:off x="3898060" y="1928589"/>
            <a:ext cx="2364476" cy="384515"/>
          </a:xfrm>
          <a:prstGeom prst="rect">
            <a:avLst/>
          </a:prstGeom>
        </p:spPr>
      </p:pic>
      <p:pic>
        <p:nvPicPr>
          <p:cNvPr id="27" name="Imagen 26">
            <a:extLst>
              <a:ext uri="{FF2B5EF4-FFF2-40B4-BE49-F238E27FC236}">
                <a16:creationId xmlns:a16="http://schemas.microsoft.com/office/drawing/2014/main" id="{D362468D-F8F9-E04C-AE00-4EFB0B82926E}"/>
              </a:ext>
            </a:extLst>
          </p:cNvPr>
          <p:cNvPicPr>
            <a:picLocks noChangeAspect="1"/>
          </p:cNvPicPr>
          <p:nvPr/>
        </p:nvPicPr>
        <p:blipFill>
          <a:blip r:embed="rId10"/>
          <a:stretch>
            <a:fillRect/>
          </a:stretch>
        </p:blipFill>
        <p:spPr>
          <a:xfrm>
            <a:off x="3898061" y="3406812"/>
            <a:ext cx="2485862" cy="389596"/>
          </a:xfrm>
          <a:prstGeom prst="rect">
            <a:avLst/>
          </a:prstGeom>
        </p:spPr>
      </p:pic>
      <p:pic>
        <p:nvPicPr>
          <p:cNvPr id="31" name="Imagen 30">
            <a:extLst>
              <a:ext uri="{FF2B5EF4-FFF2-40B4-BE49-F238E27FC236}">
                <a16:creationId xmlns:a16="http://schemas.microsoft.com/office/drawing/2014/main" id="{9CC7C63C-89CC-7534-B4D3-98D55990143E}"/>
              </a:ext>
            </a:extLst>
          </p:cNvPr>
          <p:cNvPicPr>
            <a:picLocks noChangeAspect="1"/>
          </p:cNvPicPr>
          <p:nvPr/>
        </p:nvPicPr>
        <p:blipFill>
          <a:blip r:embed="rId11"/>
          <a:stretch>
            <a:fillRect/>
          </a:stretch>
        </p:blipFill>
        <p:spPr>
          <a:xfrm>
            <a:off x="3898060" y="4255788"/>
            <a:ext cx="2447379" cy="389026"/>
          </a:xfrm>
          <a:prstGeom prst="rect">
            <a:avLst/>
          </a:prstGeom>
        </p:spPr>
      </p:pic>
      <p:pic>
        <p:nvPicPr>
          <p:cNvPr id="33" name="Imagen 32">
            <a:extLst>
              <a:ext uri="{FF2B5EF4-FFF2-40B4-BE49-F238E27FC236}">
                <a16:creationId xmlns:a16="http://schemas.microsoft.com/office/drawing/2014/main" id="{A2632B9E-DC11-9B7B-3614-240715BA6E42}"/>
              </a:ext>
            </a:extLst>
          </p:cNvPr>
          <p:cNvPicPr>
            <a:picLocks noChangeAspect="1"/>
          </p:cNvPicPr>
          <p:nvPr/>
        </p:nvPicPr>
        <p:blipFill>
          <a:blip r:embed="rId12"/>
          <a:stretch>
            <a:fillRect/>
          </a:stretch>
        </p:blipFill>
        <p:spPr>
          <a:xfrm>
            <a:off x="3905680" y="5891561"/>
            <a:ext cx="2250705" cy="442212"/>
          </a:xfrm>
          <a:prstGeom prst="rect">
            <a:avLst/>
          </a:prstGeom>
        </p:spPr>
      </p:pic>
      <p:pic>
        <p:nvPicPr>
          <p:cNvPr id="51" name="Imagen 50">
            <a:extLst>
              <a:ext uri="{FF2B5EF4-FFF2-40B4-BE49-F238E27FC236}">
                <a16:creationId xmlns:a16="http://schemas.microsoft.com/office/drawing/2014/main" id="{A9743465-41DD-AF4C-EA10-227519C59ED6}"/>
              </a:ext>
            </a:extLst>
          </p:cNvPr>
          <p:cNvPicPr>
            <a:picLocks noChangeAspect="1"/>
          </p:cNvPicPr>
          <p:nvPr/>
        </p:nvPicPr>
        <p:blipFill>
          <a:blip r:embed="rId13"/>
          <a:stretch>
            <a:fillRect/>
          </a:stretch>
        </p:blipFill>
        <p:spPr>
          <a:xfrm>
            <a:off x="220961" y="293211"/>
            <a:ext cx="2586675" cy="6167756"/>
          </a:xfrm>
          <a:prstGeom prst="rect">
            <a:avLst/>
          </a:prstGeom>
        </p:spPr>
      </p:pic>
      <p:pic>
        <p:nvPicPr>
          <p:cNvPr id="3" name="Imagen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162294" y="2414095"/>
            <a:ext cx="2830537" cy="719289"/>
          </a:xfrm>
          <a:prstGeom prst="rect">
            <a:avLst/>
          </a:prstGeom>
        </p:spPr>
      </p:pic>
      <p:pic>
        <p:nvPicPr>
          <p:cNvPr id="5" name="Imagen 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731664" y="2484145"/>
            <a:ext cx="2863689" cy="727714"/>
          </a:xfrm>
          <a:prstGeom prst="rect">
            <a:avLst/>
          </a:prstGeom>
        </p:spPr>
      </p:pic>
      <p:pic>
        <p:nvPicPr>
          <p:cNvPr id="7" name="Imagen 6"/>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251844" y="4901188"/>
            <a:ext cx="2602645" cy="663720"/>
          </a:xfrm>
          <a:prstGeom prst="rect">
            <a:avLst/>
          </a:prstGeom>
        </p:spPr>
      </p:pic>
      <p:pic>
        <p:nvPicPr>
          <p:cNvPr id="9" name="Imagen 8"/>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808509" y="4935081"/>
            <a:ext cx="2612417" cy="666212"/>
          </a:xfrm>
          <a:prstGeom prst="rect">
            <a:avLst/>
          </a:prstGeom>
        </p:spPr>
      </p:pic>
    </p:spTree>
    <p:extLst>
      <p:ext uri="{BB962C8B-B14F-4D97-AF65-F5344CB8AC3E}">
        <p14:creationId xmlns:p14="http://schemas.microsoft.com/office/powerpoint/2010/main" val="275209147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221</TotalTime>
  <Words>1764</Words>
  <Application>Microsoft Office PowerPoint</Application>
  <PresentationFormat>Panorámica</PresentationFormat>
  <Paragraphs>205</Paragraphs>
  <Slides>20</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Aptos</vt:lpstr>
      <vt:lpstr>Arial</vt:lpstr>
      <vt:lpstr>Poppins</vt:lpstr>
      <vt:lpstr>Trebuchet MS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FREDY ALEXANDER CASTAÑEDA DUITAMA</dc:creator>
  <cp:lastModifiedBy>julian rodriguez</cp:lastModifiedBy>
  <cp:revision>12</cp:revision>
  <dcterms:created xsi:type="dcterms:W3CDTF">2024-10-21T20:36:17Z</dcterms:created>
  <dcterms:modified xsi:type="dcterms:W3CDTF">2026-01-27T20:41:07Z</dcterms:modified>
</cp:coreProperties>
</file>